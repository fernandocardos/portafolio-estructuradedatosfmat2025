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0"/>
  </p:notesMasterIdLst>
  <p:handoutMasterIdLst>
    <p:handoutMasterId r:id="rId21"/>
  </p:handoutMasterIdLst>
  <p:sldIdLst>
    <p:sldId id="350" r:id="rId5"/>
    <p:sldId id="352" r:id="rId6"/>
    <p:sldId id="361" r:id="rId7"/>
    <p:sldId id="355" r:id="rId8"/>
    <p:sldId id="366" r:id="rId9"/>
    <p:sldId id="365" r:id="rId10"/>
    <p:sldId id="367" r:id="rId11"/>
    <p:sldId id="362" r:id="rId12"/>
    <p:sldId id="363" r:id="rId13"/>
    <p:sldId id="368" r:id="rId14"/>
    <p:sldId id="369" r:id="rId15"/>
    <p:sldId id="370" r:id="rId16"/>
    <p:sldId id="371" r:id="rId17"/>
    <p:sldId id="372" r:id="rId18"/>
    <p:sldId id="373" r:id="rId19"/>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5238" autoAdjust="0"/>
  </p:normalViewPr>
  <p:slideViewPr>
    <p:cSldViewPr snapToGrid="0">
      <p:cViewPr varScale="1">
        <p:scale>
          <a:sx n="120" d="100"/>
          <a:sy n="120" d="100"/>
        </p:scale>
        <p:origin x="192" y="22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6" d="100"/>
          <a:sy n="96" d="100"/>
        </p:scale>
        <p:origin x="289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4" name="Marcador de pie de página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posición de número de diapositiva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s-MX" smtClean="0"/>
              <a:t>‹Nº›</a:t>
            </a:fld>
            <a:endParaRPr lang="es-MX"/>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16DDD5-62CD-490F-AED1-A4E3DCB5364D}" type="datetime1">
              <a:rPr lang="es-MX" smtClean="0"/>
              <a:pPr/>
              <a:t>04/12/25</a:t>
            </a:fld>
            <a:endParaRPr lang="es-MX"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s-MX" noProof="0" smtClean="0"/>
              <a:t>‹Nº›</a:t>
            </a:fld>
            <a:endParaRPr lang="es-MX"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a:t>
            </a:fld>
            <a:endParaRPr lang="es-MX"/>
          </a:p>
        </p:txBody>
      </p:sp>
    </p:spTree>
    <p:extLst>
      <p:ext uri="{BB962C8B-B14F-4D97-AF65-F5344CB8AC3E}">
        <p14:creationId xmlns:p14="http://schemas.microsoft.com/office/powerpoint/2010/main" val="3334069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2</a:t>
            </a:fld>
            <a:endParaRPr lang="es-MX"/>
          </a:p>
        </p:txBody>
      </p:sp>
    </p:spTree>
    <p:extLst>
      <p:ext uri="{BB962C8B-B14F-4D97-AF65-F5344CB8AC3E}">
        <p14:creationId xmlns:p14="http://schemas.microsoft.com/office/powerpoint/2010/main" val="3500034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3</a:t>
            </a:fld>
            <a:endParaRPr lang="es-MX"/>
          </a:p>
        </p:txBody>
      </p:sp>
    </p:spTree>
    <p:extLst>
      <p:ext uri="{BB962C8B-B14F-4D97-AF65-F5344CB8AC3E}">
        <p14:creationId xmlns:p14="http://schemas.microsoft.com/office/powerpoint/2010/main" val="1394049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4</a:t>
            </a:fld>
            <a:endParaRPr lang="es-MX"/>
          </a:p>
        </p:txBody>
      </p:sp>
    </p:spTree>
    <p:extLst>
      <p:ext uri="{BB962C8B-B14F-4D97-AF65-F5344CB8AC3E}">
        <p14:creationId xmlns:p14="http://schemas.microsoft.com/office/powerpoint/2010/main" val="1310617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1FB7F-862B-EC59-9E81-312D27A666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CB3517-5028-4541-8226-CD7E8BAAEB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245C27-F54C-2913-F427-04D4B4EA5D15}"/>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08884112-0B08-072A-6D77-9ABEDEEBBA9C}"/>
              </a:ext>
            </a:extLst>
          </p:cNvPr>
          <p:cNvSpPr>
            <a:spLocks noGrp="1"/>
          </p:cNvSpPr>
          <p:nvPr>
            <p:ph type="sldNum" sz="quarter" idx="5"/>
          </p:nvPr>
        </p:nvSpPr>
        <p:spPr/>
        <p:txBody>
          <a:bodyPr/>
          <a:lstStyle/>
          <a:p>
            <a:pPr rtl="0"/>
            <a:fld id="{A89C7E07-3C67-C64C-8DA0-0404F6303970}" type="slidenum">
              <a:rPr lang="es-MX" smtClean="0"/>
              <a:t>5</a:t>
            </a:fld>
            <a:endParaRPr lang="es-MX"/>
          </a:p>
        </p:txBody>
      </p:sp>
    </p:spTree>
    <p:extLst>
      <p:ext uri="{BB962C8B-B14F-4D97-AF65-F5344CB8AC3E}">
        <p14:creationId xmlns:p14="http://schemas.microsoft.com/office/powerpoint/2010/main" val="2688075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86A5F-952D-DB55-7D6B-658F4F6D56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00801B-2579-9640-871E-C7AFFE173B6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A4BE6CF-4113-0ED0-4914-9CD59B9292AE}"/>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43ADA837-94F5-5952-AD50-1313FB4C2308}"/>
              </a:ext>
            </a:extLst>
          </p:cNvPr>
          <p:cNvSpPr>
            <a:spLocks noGrp="1"/>
          </p:cNvSpPr>
          <p:nvPr>
            <p:ph type="sldNum" sz="quarter" idx="5"/>
          </p:nvPr>
        </p:nvSpPr>
        <p:spPr/>
        <p:txBody>
          <a:bodyPr/>
          <a:lstStyle/>
          <a:p>
            <a:pPr rtl="0"/>
            <a:fld id="{A89C7E07-3C67-C64C-8DA0-0404F6303970}" type="slidenum">
              <a:rPr lang="es-MX" smtClean="0"/>
              <a:t>6</a:t>
            </a:fld>
            <a:endParaRPr lang="es-MX"/>
          </a:p>
        </p:txBody>
      </p:sp>
    </p:spTree>
    <p:extLst>
      <p:ext uri="{BB962C8B-B14F-4D97-AF65-F5344CB8AC3E}">
        <p14:creationId xmlns:p14="http://schemas.microsoft.com/office/powerpoint/2010/main" val="2616454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2FB5E-BE96-29D6-D426-6569C8FD6A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1C7912-3ABE-E6E8-2BD9-59C662B392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4DF86B3-7DE5-6DE0-8E14-F5106E5CDAAA}"/>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8253779E-E26B-963B-3695-2EABCAABFB10}"/>
              </a:ext>
            </a:extLst>
          </p:cNvPr>
          <p:cNvSpPr>
            <a:spLocks noGrp="1"/>
          </p:cNvSpPr>
          <p:nvPr>
            <p:ph type="sldNum" sz="quarter" idx="5"/>
          </p:nvPr>
        </p:nvSpPr>
        <p:spPr/>
        <p:txBody>
          <a:bodyPr/>
          <a:lstStyle/>
          <a:p>
            <a:pPr rtl="0"/>
            <a:fld id="{A89C7E07-3C67-C64C-8DA0-0404F6303970}" type="slidenum">
              <a:rPr lang="es-MX" smtClean="0"/>
              <a:t>7</a:t>
            </a:fld>
            <a:endParaRPr lang="es-MX"/>
          </a:p>
        </p:txBody>
      </p:sp>
    </p:spTree>
    <p:extLst>
      <p:ext uri="{BB962C8B-B14F-4D97-AF65-F5344CB8AC3E}">
        <p14:creationId xmlns:p14="http://schemas.microsoft.com/office/powerpoint/2010/main" val="3167590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8</a:t>
            </a:fld>
            <a:endParaRPr lang="es-MX"/>
          </a:p>
        </p:txBody>
      </p:sp>
    </p:spTree>
    <p:extLst>
      <p:ext uri="{BB962C8B-B14F-4D97-AF65-F5344CB8AC3E}">
        <p14:creationId xmlns:p14="http://schemas.microsoft.com/office/powerpoint/2010/main" val="3639115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9</a:t>
            </a:fld>
            <a:endParaRPr lang="es-MX"/>
          </a:p>
        </p:txBody>
      </p:sp>
    </p:spTree>
    <p:extLst>
      <p:ext uri="{BB962C8B-B14F-4D97-AF65-F5344CB8AC3E}">
        <p14:creationId xmlns:p14="http://schemas.microsoft.com/office/powerpoint/2010/main" val="641476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5CCFB-B02F-D447-8C21-0D18E0208D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C1D1418-B3A1-8C79-A3FD-5E4C18D76BA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79D932-EDE0-F8F8-5EEB-961010E4E562}"/>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AEE60364-A2C6-BD35-D2CD-E8A2A61A93DF}"/>
              </a:ext>
            </a:extLst>
          </p:cNvPr>
          <p:cNvSpPr>
            <a:spLocks noGrp="1"/>
          </p:cNvSpPr>
          <p:nvPr>
            <p:ph type="sldNum" sz="quarter" idx="5"/>
          </p:nvPr>
        </p:nvSpPr>
        <p:spPr/>
        <p:txBody>
          <a:bodyPr/>
          <a:lstStyle/>
          <a:p>
            <a:pPr rtl="0"/>
            <a:fld id="{A89C7E07-3C67-C64C-8DA0-0404F6303970}" type="slidenum">
              <a:rPr lang="es-MX" smtClean="0"/>
              <a:t>10</a:t>
            </a:fld>
            <a:endParaRPr lang="es-MX"/>
          </a:p>
        </p:txBody>
      </p:sp>
    </p:spTree>
    <p:extLst>
      <p:ext uri="{BB962C8B-B14F-4D97-AF65-F5344CB8AC3E}">
        <p14:creationId xmlns:p14="http://schemas.microsoft.com/office/powerpoint/2010/main" val="3475314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A8EB4-F8CF-AA0D-677B-BBC74D9F79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2265CE-F807-EFE3-2E8B-DCB964EA28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2E3DA0-2D89-44E7-BAF8-3491EEBFBCE5}"/>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D2B0F2BF-56F5-C2A8-9311-E1DC83FC32CA}"/>
              </a:ext>
            </a:extLst>
          </p:cNvPr>
          <p:cNvSpPr>
            <a:spLocks noGrp="1"/>
          </p:cNvSpPr>
          <p:nvPr>
            <p:ph type="sldNum" sz="quarter" idx="5"/>
          </p:nvPr>
        </p:nvSpPr>
        <p:spPr/>
        <p:txBody>
          <a:bodyPr/>
          <a:lstStyle/>
          <a:p>
            <a:pPr rtl="0"/>
            <a:fld id="{A89C7E07-3C67-C64C-8DA0-0404F6303970}" type="slidenum">
              <a:rPr lang="es-MX" smtClean="0"/>
              <a:t>11</a:t>
            </a:fld>
            <a:endParaRPr lang="es-MX"/>
          </a:p>
        </p:txBody>
      </p:sp>
    </p:spTree>
    <p:extLst>
      <p:ext uri="{BB962C8B-B14F-4D97-AF65-F5344CB8AC3E}">
        <p14:creationId xmlns:p14="http://schemas.microsoft.com/office/powerpoint/2010/main" val="3062544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1680-AA4A-0FB4-DA33-486104761C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A4C7F6-51F4-11A5-B6DB-DCA9BC480B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E125E2-8398-6221-0B22-2A724F9FA8F7}"/>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612165F4-F8F4-642E-FF1C-8E7D5DB0C64B}"/>
              </a:ext>
            </a:extLst>
          </p:cNvPr>
          <p:cNvSpPr>
            <a:spLocks noGrp="1"/>
          </p:cNvSpPr>
          <p:nvPr>
            <p:ph type="sldNum" sz="quarter" idx="5"/>
          </p:nvPr>
        </p:nvSpPr>
        <p:spPr/>
        <p:txBody>
          <a:bodyPr/>
          <a:lstStyle/>
          <a:p>
            <a:pPr rtl="0"/>
            <a:fld id="{A89C7E07-3C67-C64C-8DA0-0404F6303970}" type="slidenum">
              <a:rPr lang="es-MX" smtClean="0"/>
              <a:t>12</a:t>
            </a:fld>
            <a:endParaRPr lang="es-MX"/>
          </a:p>
        </p:txBody>
      </p:sp>
    </p:spTree>
    <p:extLst>
      <p:ext uri="{BB962C8B-B14F-4D97-AF65-F5344CB8AC3E}">
        <p14:creationId xmlns:p14="http://schemas.microsoft.com/office/powerpoint/2010/main" val="3292164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6A6EC-B444-E170-B171-8E7903505A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059C01-31D7-37E0-7B38-FDAECB6A016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59F5ED-C020-B8F3-215C-2555A84EFDC3}"/>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176B3279-4403-2B85-DEEE-B234AA3BAAEC}"/>
              </a:ext>
            </a:extLst>
          </p:cNvPr>
          <p:cNvSpPr>
            <a:spLocks noGrp="1"/>
          </p:cNvSpPr>
          <p:nvPr>
            <p:ph type="sldNum" sz="quarter" idx="5"/>
          </p:nvPr>
        </p:nvSpPr>
        <p:spPr/>
        <p:txBody>
          <a:bodyPr/>
          <a:lstStyle/>
          <a:p>
            <a:pPr rtl="0"/>
            <a:fld id="{A89C7E07-3C67-C64C-8DA0-0404F6303970}" type="slidenum">
              <a:rPr lang="es-MX" smtClean="0"/>
              <a:t>13</a:t>
            </a:fld>
            <a:endParaRPr lang="es-MX"/>
          </a:p>
        </p:txBody>
      </p:sp>
    </p:spTree>
    <p:extLst>
      <p:ext uri="{BB962C8B-B14F-4D97-AF65-F5344CB8AC3E}">
        <p14:creationId xmlns:p14="http://schemas.microsoft.com/office/powerpoint/2010/main" val="464502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3B5E9-7463-4C04-66B7-0C6D0CAC2B4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6B24EF5-8FF1-BE9A-C4CD-ABF0D919C48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E74D21-BDF3-B540-C123-67708E7E7475}"/>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6519F56D-EB19-804A-535D-1D72F4E21FA9}"/>
              </a:ext>
            </a:extLst>
          </p:cNvPr>
          <p:cNvSpPr>
            <a:spLocks noGrp="1"/>
          </p:cNvSpPr>
          <p:nvPr>
            <p:ph type="sldNum" sz="quarter" idx="5"/>
          </p:nvPr>
        </p:nvSpPr>
        <p:spPr/>
        <p:txBody>
          <a:bodyPr/>
          <a:lstStyle/>
          <a:p>
            <a:pPr rtl="0"/>
            <a:fld id="{A89C7E07-3C67-C64C-8DA0-0404F6303970}" type="slidenum">
              <a:rPr lang="es-MX" smtClean="0"/>
              <a:t>14</a:t>
            </a:fld>
            <a:endParaRPr lang="es-MX"/>
          </a:p>
        </p:txBody>
      </p:sp>
    </p:spTree>
    <p:extLst>
      <p:ext uri="{BB962C8B-B14F-4D97-AF65-F5344CB8AC3E}">
        <p14:creationId xmlns:p14="http://schemas.microsoft.com/office/powerpoint/2010/main" val="1821032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31E9E-BB09-1DF5-7EE5-E1BD02A4DC0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F69C96-875E-9F93-561D-BE3E88483C5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DB5851-BCE3-3C4E-3825-6383E7AD9727}"/>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00053E34-5F0D-0FE2-15B8-6A22804811E7}"/>
              </a:ext>
            </a:extLst>
          </p:cNvPr>
          <p:cNvSpPr>
            <a:spLocks noGrp="1"/>
          </p:cNvSpPr>
          <p:nvPr>
            <p:ph type="sldNum" sz="quarter" idx="5"/>
          </p:nvPr>
        </p:nvSpPr>
        <p:spPr/>
        <p:txBody>
          <a:bodyPr/>
          <a:lstStyle/>
          <a:p>
            <a:pPr rtl="0"/>
            <a:fld id="{A89C7E07-3C67-C64C-8DA0-0404F6303970}" type="slidenum">
              <a:rPr lang="es-MX" smtClean="0"/>
              <a:t>15</a:t>
            </a:fld>
            <a:endParaRPr lang="es-MX"/>
          </a:p>
        </p:txBody>
      </p:sp>
    </p:spTree>
    <p:extLst>
      <p:ext uri="{BB962C8B-B14F-4D97-AF65-F5344CB8AC3E}">
        <p14:creationId xmlns:p14="http://schemas.microsoft.com/office/powerpoint/2010/main" val="3408825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MX" noProof="0"/>
              <a:t>Haz clic para modificar el estilo de título del patrón</a:t>
            </a:r>
            <a:endParaRPr lang="es-MX"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8" name="Marcador de posición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MX" noProof="0"/>
              <a:t>Haz clic para modificar el estilo de título del patrón</a:t>
            </a:r>
            <a:endParaRPr lang="es-MX"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posición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15" name="Marcador de posición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posición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18" name="Marcador de posición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posición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22" name="Marcador de posición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posición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25" name="Marcador de posición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posición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28" name="Marcador de posición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rtl="0"/>
            <a:fld id="{2ABFB780-2149-4311-B62F-2A913C077482}" type="datetime4">
              <a:rPr lang="es-MX" noProof="0" smtClean="0">
                <a:latin typeface="+mn-lt"/>
              </a:rPr>
              <a:t>4 de diciembre de 2025</a:t>
            </a:fld>
            <a:endParaRPr lang="es-MX" noProof="0" dirty="0">
              <a:latin typeface="+mn-lt"/>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MX" noProof="0"/>
              <a:t>Haz clic en el icono para agregar una imagen</a:t>
            </a:r>
            <a:endParaRPr lang="es-MX"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MX" noProof="0"/>
              <a:t>Haz clic para modificar el estilo de título del patrón</a:t>
            </a:r>
            <a:endParaRPr lang="es-MX"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posición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rtl="0"/>
            <a:fld id="{9F6D589A-42E2-4B36-8805-860D234AC495}" type="datetime4">
              <a:rPr lang="es-MX" noProof="0" smtClean="0">
                <a:latin typeface="+mn-lt"/>
              </a:rPr>
              <a:t>4 de diciembre de 2025</a:t>
            </a:fld>
            <a:endParaRPr lang="es-MX" noProof="0" dirty="0">
              <a:latin typeface="+mn-lt"/>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MX" noProof="0"/>
              <a:t>Haz clic en el icono para agregar una imagen</a:t>
            </a:r>
            <a:endParaRPr lang="es-MX"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MX" noProof="0"/>
              <a:t>Haz clic para modificar el estilo de título del patrón</a:t>
            </a:r>
            <a:endParaRPr lang="es-MX"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MX" noProof="0"/>
              <a:t>Haz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rtl="0"/>
            <a:fld id="{25F141E4-5E5F-4845-B8D7-3C55A2178325}" type="datetime4">
              <a:rPr lang="es-MX" noProof="0" smtClean="0">
                <a:latin typeface="+mn-lt"/>
              </a:rPr>
              <a:t>4 de diciembre de 2025</a:t>
            </a:fld>
            <a:endParaRPr lang="es-MX" noProof="0">
              <a:latin typeface="+mn-lt"/>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rtl="0"/>
            <a:r>
              <a:rPr lang="es-MX" noProof="0"/>
              <a:t>Revisión anual</a:t>
            </a:r>
            <a:endParaRPr lang="es-MX" b="0" noProof="0"/>
          </a:p>
        </p:txBody>
      </p:sp>
      <p:sp>
        <p:nvSpPr>
          <p:cNvPr id="4" name="Marcador de posición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MX" noProof="0"/>
              <a:t>Haz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rtl="0"/>
            <a:fld id="{FDA047C0-5304-48FD-8984-0F5342E36F55}" type="datetime4">
              <a:rPr lang="es-MX" noProof="0" smtClean="0">
                <a:latin typeface="+mn-lt"/>
              </a:rPr>
              <a:t>4 de diciembre de 2025</a:t>
            </a:fld>
            <a:endParaRPr lang="es-MX" noProof="0">
              <a:latin typeface="+mn-lt"/>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es-MX" noProof="0"/>
              <a:t>Revisión anual</a:t>
            </a:r>
            <a:endParaRPr lang="es-MX" b="0" noProof="0"/>
          </a:p>
        </p:txBody>
      </p:sp>
      <p:sp>
        <p:nvSpPr>
          <p:cNvPr id="4" name="Marcador de posición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MX" noProof="0"/>
              <a:t>Haz clic para modificar el estilo de título del patrón</a:t>
            </a:r>
            <a:endParaRPr lang="es-MX"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s-MX" sz="20000" b="1" noProof="0" dirty="0">
                <a:solidFill>
                  <a:schemeClr val="bg1"/>
                </a:solidFill>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MX" noProof="0"/>
              <a:t>Haz clic en el icono para agregar una imagen</a:t>
            </a:r>
            <a:endParaRPr lang="es-MX"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modificar el estilo de título del patrón</a:t>
            </a:r>
            <a:endParaRPr lang="es-MX"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MX" noProof="0"/>
              <a:t>Haz clic en el icono para agregar una imagen</a:t>
            </a:r>
            <a:endParaRPr lang="es-MX" noProof="0" dirty="0"/>
          </a:p>
        </p:txBody>
      </p:sp>
      <p:sp>
        <p:nvSpPr>
          <p:cNvPr id="72" name="Marcador de posición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3" name="Marcador de posición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4" name="Marcador de posición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5" name="Marcador de posición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6" name="Marcador de posición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7" name="Marcador de posición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8" name="Marcador de posición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9" name="Marcador de posición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MX" noProof="0"/>
              <a:t>Haz clic en el icono para agregar una imagen</a:t>
            </a:r>
            <a:endParaRPr lang="es-MX"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MX" noProof="0"/>
              <a:t>Haz clic en el icono para agregar una imagen</a:t>
            </a:r>
            <a:endParaRPr lang="es-MX"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rtl="0"/>
            <a:fld id="{5CB96D81-167A-44AE-9BCF-4ED494A4AE1F}" type="datetime4">
              <a:rPr lang="es-MX" noProof="0" smtClean="0">
                <a:latin typeface="+mn-lt"/>
              </a:rPr>
              <a:t>4 de diciembre de 2025</a:t>
            </a:fld>
            <a:endParaRPr lang="es-MX" noProof="0" dirty="0">
              <a:latin typeface="+mn-lt"/>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íne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6" name="Marcador de posición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97" name="Marcador de posición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sp>
        <p:nvSpPr>
          <p:cNvPr id="102" name="Marcador de posición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3" name="Marcador de posición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6" name="Marcador de posición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7" name="Marcador de posición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8" name="Marcador de posición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9" name="Marcador de posición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rtl="0"/>
            <a:fld id="{4163F4A3-5F37-4E44-BE8C-91B4ACFEB9BF}" type="datetime4">
              <a:rPr lang="es-MX" noProof="0" smtClean="0">
                <a:latin typeface="+mn-lt"/>
              </a:rPr>
              <a:t>4 de diciembre de 2025</a:t>
            </a:fld>
            <a:endParaRPr lang="es-MX" noProof="0">
              <a:latin typeface="+mn-lt"/>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rtl="0"/>
            <a:r>
              <a:rPr lang="es-MX" noProof="0"/>
              <a:t>Revisión anual</a:t>
            </a:r>
            <a:endParaRPr lang="es-MX" b="0" noProof="0"/>
          </a:p>
        </p:txBody>
      </p:sp>
      <p:sp>
        <p:nvSpPr>
          <p:cNvPr id="4" name="Marcador de posición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MX" noProof="0"/>
              <a:t>Haz clic para modificar el estilo de título del patrón</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modificar los estilos de texto del patrón</a:t>
            </a:r>
          </a:p>
        </p:txBody>
      </p:sp>
      <p:sp>
        <p:nvSpPr>
          <p:cNvPr id="25" name="Marcador de posición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modificar los estilos de texto del patrón</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MX"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MX"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rtl="0"/>
            <a:fld id="{4664765F-4FB6-4202-9E9D-A26625E8FAC7}" type="datetime4">
              <a:rPr lang="es-MX" noProof="0" smtClean="0">
                <a:latin typeface="+mn-lt"/>
              </a:rPr>
              <a:t>4 de diciembre de 2025</a:t>
            </a:fld>
            <a:endParaRPr lang="es-MX" noProof="0" dirty="0">
              <a:latin typeface="+mn-lt"/>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MX" noProof="0"/>
              <a:t>Haz clic para modificar el estilo de título del patrón</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MX" noProof="0"/>
              <a:t>Haga clic para modificar los estilos de texto del patrón</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MX" noProof="0"/>
              <a:t>Haga clic para modificar los estilos de texto del patrón</a:t>
            </a:r>
          </a:p>
        </p:txBody>
      </p:sp>
      <p:sp>
        <p:nvSpPr>
          <p:cNvPr id="20" name="Marcador de posición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MX" noProof="0"/>
              <a:t>Haga clic para modificar los estilos de texto del patrón</a:t>
            </a:r>
          </a:p>
        </p:txBody>
      </p:sp>
      <p:sp>
        <p:nvSpPr>
          <p:cNvPr id="21" name="Marcador de posición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MX" noProof="0"/>
              <a:t>Haga clic para modificar los estilos de texto del patrón</a:t>
            </a:r>
          </a:p>
        </p:txBody>
      </p:sp>
      <p:sp>
        <p:nvSpPr>
          <p:cNvPr id="22" name="Marcador de posición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MX"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MX"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rtl="0"/>
            <a:fld id="{3D65D2FC-45E3-4BA1-BDB6-9771E5975F8F}" type="datetime4">
              <a:rPr lang="es-MX" noProof="0" smtClean="0">
                <a:latin typeface="+mn-lt"/>
              </a:rPr>
              <a:t>4 de diciembre de 2025</a:t>
            </a:fld>
            <a:endParaRPr lang="es-MX" noProof="0" dirty="0">
              <a:latin typeface="+mn-lt"/>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MX" noProof="0"/>
              <a:t>Haz clic para modificar el estilo de título del patrón</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posición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MX"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4" name="Marcador de posición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MX" noProof="0"/>
              <a:t>Haga clic para modificar los estilos de texto del patrón</a:t>
            </a:r>
          </a:p>
        </p:txBody>
      </p:sp>
      <p:sp>
        <p:nvSpPr>
          <p:cNvPr id="21" name="Marcador de posición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MX" noProof="0"/>
              <a:t>Haga clic para modificar los estilos de texto del patrón</a:t>
            </a:r>
          </a:p>
        </p:txBody>
      </p:sp>
      <p:sp>
        <p:nvSpPr>
          <p:cNvPr id="22" name="Marcador de posición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MX" noProof="0"/>
              <a:t>Haga clic para modificar los estilos de texto del patrón</a:t>
            </a:r>
          </a:p>
        </p:txBody>
      </p:sp>
      <p:sp>
        <p:nvSpPr>
          <p:cNvPr id="23" name="Marcador de posición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MX" noProof="0"/>
              <a:t>Haga clic para modificar los estilos de texto del patrón</a:t>
            </a:r>
          </a:p>
        </p:txBody>
      </p:sp>
      <p:sp>
        <p:nvSpPr>
          <p:cNvPr id="24" name="Marcador de posición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MX" noProof="0"/>
              <a:t>Haga clic para modificar los estilos de texto del patrón</a:t>
            </a:r>
          </a:p>
        </p:txBody>
      </p:sp>
      <p:sp>
        <p:nvSpPr>
          <p:cNvPr id="25" name="Marcador de posición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MX" noProof="0"/>
              <a:t>Haga clic para modificar los estilos de texto del patrón</a:t>
            </a:r>
          </a:p>
        </p:txBody>
      </p:sp>
      <p:sp>
        <p:nvSpPr>
          <p:cNvPr id="26" name="Marcador de posición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MX" noProof="0"/>
              <a:t>Haga clic para modificar los estilos de texto del patrón</a:t>
            </a:r>
          </a:p>
        </p:txBody>
      </p:sp>
      <p:sp>
        <p:nvSpPr>
          <p:cNvPr id="27" name="Marcador de posición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MX" noProof="0"/>
              <a:t>Haga clic para modificar los estilos de texto del patrón</a:t>
            </a:r>
          </a:p>
        </p:txBody>
      </p:sp>
      <p:sp>
        <p:nvSpPr>
          <p:cNvPr id="28" name="Marcador de posición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MX"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rtl="0"/>
            <a:fld id="{670FCA8F-4735-4515-B1D3-DF89D087BBD3}" type="datetime4">
              <a:rPr lang="es-MX" noProof="0" smtClean="0">
                <a:latin typeface="+mn-lt"/>
              </a:rPr>
              <a:t>4 de diciembre de 2025</a:t>
            </a:fld>
            <a:endParaRPr lang="es-MX" noProof="0" dirty="0">
              <a:latin typeface="+mn-lt"/>
            </a:endParaRPr>
          </a:p>
        </p:txBody>
      </p:sp>
      <p:sp>
        <p:nvSpPr>
          <p:cNvPr id="5" name="Marcador de posición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rtl="0"/>
            <a:r>
              <a:rPr lang="es-MX" noProof="0" dirty="0"/>
              <a:t>Revisión anual</a:t>
            </a:r>
            <a:endParaRPr lang="es-MX" b="0" noProof="0" dirty="0"/>
          </a:p>
        </p:txBody>
      </p:sp>
      <p:sp>
        <p:nvSpPr>
          <p:cNvPr id="6" name="Marcador de posición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posición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Haz clic para editar el estilo de subtítulo del patrón</a:t>
            </a:r>
            <a:endParaRPr lang="es-MX"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MX" noProof="0"/>
              <a:t>Haz clic para modificar el estilo de título del patrón</a:t>
            </a:r>
            <a:endParaRPr lang="es-MX"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MX" noProof="0"/>
              <a:t>Haz clic en el icono para agregar una imagen</a:t>
            </a:r>
            <a:endParaRPr lang="es-MX"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MX" noProof="0"/>
              <a:t>Haz clic para modificar el estilo de título del patrón</a:t>
            </a:r>
          </a:p>
        </p:txBody>
      </p:sp>
      <p:sp>
        <p:nvSpPr>
          <p:cNvPr id="30" name="Marcador de posición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352FE442-AC1F-4EAB-8C6F-3115E7871F11}" type="datetime4">
              <a:rPr lang="es-MX" noProof="0" smtClean="0">
                <a:latin typeface="+mn-lt"/>
              </a:rPr>
              <a:t>4 de diciembre de 2025</a:t>
            </a:fld>
            <a:endParaRPr lang="es-MX" noProof="0">
              <a:latin typeface="+mn-lt"/>
            </a:endParaRPr>
          </a:p>
        </p:txBody>
      </p:sp>
      <p:sp>
        <p:nvSpPr>
          <p:cNvPr id="31" name="Marcador de posición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s-MX" noProof="0"/>
              <a:t>Revisión anual</a:t>
            </a:r>
            <a:endParaRPr lang="es-MX" b="0" noProof="0"/>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048079" y="2215706"/>
            <a:ext cx="5491570" cy="953337"/>
          </a:xfrm>
        </p:spPr>
        <p:txBody>
          <a:bodyPr rtlCol="0"/>
          <a:lstStyle/>
          <a:p>
            <a:r>
              <a:rPr lang="es-MX" dirty="0"/>
              <a:t>Estructura de Datos</a:t>
            </a:r>
          </a:p>
          <a:p>
            <a:r>
              <a:rPr lang="es-MX" dirty="0"/>
              <a:t>Docente: Luis Ramiro Basto Díaz </a:t>
            </a:r>
          </a:p>
          <a:p>
            <a:r>
              <a:rPr lang="es-MX" dirty="0"/>
              <a:t>ADA 05</a:t>
            </a:r>
          </a:p>
          <a:p>
            <a:r>
              <a:rPr lang="es-MX" dirty="0"/>
              <a:t>Jonathan Mohamed Torres Chan</a:t>
            </a:r>
          </a:p>
          <a:p>
            <a:r>
              <a:rPr lang="es-MX"/>
              <a:t>Fernando Alberto Cardós Carvajal</a:t>
            </a:r>
            <a:endParaRPr lang="es-MX" dirty="0"/>
          </a:p>
          <a:p>
            <a:r>
              <a:rPr lang="es-MX" dirty="0"/>
              <a:t>Fecha de entrega: 17/octubre/2025</a:t>
            </a:r>
          </a:p>
          <a:p>
            <a:pPr rtl="0"/>
            <a:endParaRPr lang="es-MX" dirty="0"/>
          </a:p>
        </p:txBody>
      </p:sp>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D54756-A790-C845-A85F-35391529E591}"/>
              </a:ext>
            </a:extLst>
          </p:cNvPr>
          <p:cNvSpPr>
            <a:spLocks noGrp="1"/>
          </p:cNvSpPr>
          <p:nvPr>
            <p:ph type="title"/>
          </p:nvPr>
        </p:nvSpPr>
        <p:spPr>
          <a:xfrm>
            <a:off x="964023" y="879063"/>
            <a:ext cx="6803061" cy="610863"/>
          </a:xfrm>
        </p:spPr>
        <p:txBody>
          <a:bodyPr rtlCol="0">
            <a:normAutofit/>
          </a:bodyPr>
          <a:lstStyle/>
          <a:p>
            <a:pPr lvl="0"/>
            <a:r>
              <a:rPr lang="es-MX" dirty="0"/>
              <a:t>1. Introducción y Contexto</a:t>
            </a:r>
          </a:p>
        </p:txBody>
      </p:sp>
      <p:sp>
        <p:nvSpPr>
          <p:cNvPr id="5" name="Marcador de posición de texto 4">
            <a:extLst>
              <a:ext uri="{FF2B5EF4-FFF2-40B4-BE49-F238E27FC236}">
                <a16:creationId xmlns:a16="http://schemas.microsoft.com/office/drawing/2014/main" id="{6979C7D4-91CF-6443-91D5-65DC860B407D}"/>
              </a:ext>
            </a:extLst>
          </p:cNvPr>
          <p:cNvSpPr>
            <a:spLocks noGrp="1"/>
          </p:cNvSpPr>
          <p:nvPr>
            <p:ph type="body" sz="quarter" idx="15"/>
          </p:nvPr>
        </p:nvSpPr>
        <p:spPr>
          <a:xfrm>
            <a:off x="3663042" y="2818295"/>
            <a:ext cx="2128157" cy="778795"/>
          </a:xfrm>
        </p:spPr>
        <p:txBody>
          <a:bodyPr rtlCol="0"/>
          <a:lstStyle/>
          <a:p>
            <a:pPr rtl="0"/>
            <a:r>
              <a:rPr lang="es-MX" dirty="0"/>
              <a:t>.</a:t>
            </a:r>
          </a:p>
        </p:txBody>
      </p:sp>
      <p:sp>
        <p:nvSpPr>
          <p:cNvPr id="15" name="Marcador de posición de número de diapositiva 14">
            <a:extLst>
              <a:ext uri="{FF2B5EF4-FFF2-40B4-BE49-F238E27FC236}">
                <a16:creationId xmlns:a16="http://schemas.microsoft.com/office/drawing/2014/main" id="{329469AE-B59A-AA41-9085-106D011808F5}"/>
              </a:ext>
            </a:extLst>
          </p:cNvPr>
          <p:cNvSpPr>
            <a:spLocks noGrp="1"/>
          </p:cNvSpPr>
          <p:nvPr>
            <p:ph type="sldNum" sz="quarter" idx="27"/>
          </p:nvPr>
        </p:nvSpPr>
        <p:spPr>
          <a:xfrm>
            <a:off x="971550" y="6332220"/>
            <a:ext cx="523240" cy="247651"/>
          </a:xfrm>
        </p:spPr>
        <p:txBody>
          <a:bodyPr rtlCol="0"/>
          <a:lstStyle/>
          <a:p>
            <a:pPr rtl="0"/>
            <a:fld id="{294A09A9-5501-47C1-A89A-A340965A2BE2}" type="slidenum">
              <a:rPr lang="es-MX" smtClean="0"/>
              <a:pPr/>
              <a:t>2</a:t>
            </a:fld>
            <a:endParaRPr lang="es-MX"/>
          </a:p>
        </p:txBody>
      </p:sp>
      <p:sp>
        <p:nvSpPr>
          <p:cNvPr id="14" name="Marcador de posición de pie de página 13">
            <a:extLst>
              <a:ext uri="{FF2B5EF4-FFF2-40B4-BE49-F238E27FC236}">
                <a16:creationId xmlns:a16="http://schemas.microsoft.com/office/drawing/2014/main" id="{C0BAE34D-BF83-084B-A10C-EB85694B9ACF}"/>
              </a:ext>
            </a:extLst>
          </p:cNvPr>
          <p:cNvSpPr>
            <a:spLocks noGrp="1"/>
          </p:cNvSpPr>
          <p:nvPr>
            <p:ph type="ftr" sz="quarter" idx="26"/>
          </p:nvPr>
        </p:nvSpPr>
        <p:spPr>
          <a:xfrm>
            <a:off x="1494790" y="6332220"/>
            <a:ext cx="1497330" cy="247651"/>
          </a:xfrm>
        </p:spPr>
        <p:txBody>
          <a:bodyPr rtlCol="0"/>
          <a:lstStyle/>
          <a:p>
            <a:pPr rtl="0"/>
            <a:r>
              <a:rPr lang="es-MX"/>
              <a:t>Revisión anual</a:t>
            </a:r>
          </a:p>
        </p:txBody>
      </p:sp>
      <p:sp>
        <p:nvSpPr>
          <p:cNvPr id="13" name="Marcador de posición de fecha 12">
            <a:extLst>
              <a:ext uri="{FF2B5EF4-FFF2-40B4-BE49-F238E27FC236}">
                <a16:creationId xmlns:a16="http://schemas.microsoft.com/office/drawing/2014/main" id="{2D9626DF-C81E-004B-9A70-7EF103792475}"/>
              </a:ext>
            </a:extLst>
          </p:cNvPr>
          <p:cNvSpPr>
            <a:spLocks noGrp="1"/>
          </p:cNvSpPr>
          <p:nvPr>
            <p:ph type="dt" sz="half" idx="25"/>
          </p:nvPr>
        </p:nvSpPr>
        <p:spPr>
          <a:xfrm>
            <a:off x="2992120" y="6332220"/>
            <a:ext cx="1777588" cy="247651"/>
          </a:xfrm>
        </p:spPr>
        <p:txBody>
          <a:bodyPr rtlCol="0"/>
          <a:lstStyle/>
          <a:p>
            <a:pPr rtl="0"/>
            <a:fld id="{BA9CC971-E3BD-4A42-8AAD-8380557AEF9F}" type="datetime4">
              <a:rPr lang="es-MX" smtClean="0"/>
              <a:t>4 de diciembre de 2025</a:t>
            </a:fld>
            <a:endParaRPr lang="es-MX"/>
          </a:p>
        </p:txBody>
      </p:sp>
      <p:sp>
        <p:nvSpPr>
          <p:cNvPr id="17" name="Marcador de texto 16">
            <a:extLst>
              <a:ext uri="{FF2B5EF4-FFF2-40B4-BE49-F238E27FC236}">
                <a16:creationId xmlns:a16="http://schemas.microsoft.com/office/drawing/2014/main" id="{336AEC1D-5944-5DE9-48B9-A72B5C492AA4}"/>
              </a:ext>
            </a:extLst>
          </p:cNvPr>
          <p:cNvSpPr>
            <a:spLocks noGrp="1"/>
          </p:cNvSpPr>
          <p:nvPr>
            <p:ph type="body" sz="quarter" idx="14"/>
          </p:nvPr>
        </p:nvSpPr>
        <p:spPr/>
        <p:txBody>
          <a:bodyPr/>
          <a:lstStyle/>
          <a:p>
            <a:r>
              <a:rPr lang="es-MX" b="1" dirty="0" err="1"/>
              <a:t>Cocktail</a:t>
            </a:r>
            <a:r>
              <a:rPr lang="es-MX" b="1" dirty="0"/>
              <a:t> </a:t>
            </a:r>
            <a:r>
              <a:rPr lang="es-MX" b="1" dirty="0" err="1"/>
              <a:t>Sort</a:t>
            </a:r>
            <a:endParaRPr lang="es-MX" dirty="0"/>
          </a:p>
          <a:p>
            <a:r>
              <a:rPr lang="es-MX" b="1" dirty="0"/>
              <a:t> </a:t>
            </a:r>
            <a:endParaRPr lang="es-MX" dirty="0"/>
          </a:p>
          <a:p>
            <a:endParaRPr lang="es-MX" dirty="0"/>
          </a:p>
        </p:txBody>
      </p:sp>
      <p:sp>
        <p:nvSpPr>
          <p:cNvPr id="19" name="Marcador de texto 18">
            <a:extLst>
              <a:ext uri="{FF2B5EF4-FFF2-40B4-BE49-F238E27FC236}">
                <a16:creationId xmlns:a16="http://schemas.microsoft.com/office/drawing/2014/main" id="{44C65E2D-6C36-3982-341D-904869FF40E6}"/>
              </a:ext>
            </a:extLst>
          </p:cNvPr>
          <p:cNvSpPr>
            <a:spLocks noGrp="1"/>
          </p:cNvSpPr>
          <p:nvPr>
            <p:ph type="body" sz="quarter" idx="16"/>
          </p:nvPr>
        </p:nvSpPr>
        <p:spPr>
          <a:xfrm>
            <a:off x="3663042" y="2209800"/>
            <a:ext cx="2128157" cy="565298"/>
          </a:xfrm>
        </p:spPr>
        <p:txBody>
          <a:bodyPr/>
          <a:lstStyle/>
          <a:p>
            <a:r>
              <a:rPr lang="es-MX" b="1" dirty="0"/>
              <a:t>Ordenamiento por Intercambio</a:t>
            </a:r>
            <a:endParaRPr lang="es-MX" dirty="0"/>
          </a:p>
          <a:p>
            <a:endParaRPr lang="es-MX" dirty="0"/>
          </a:p>
        </p:txBody>
      </p:sp>
    </p:spTree>
    <p:extLst>
      <p:ext uri="{BB962C8B-B14F-4D97-AF65-F5344CB8AC3E}">
        <p14:creationId xmlns:p14="http://schemas.microsoft.com/office/powerpoint/2010/main" val="289860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1353F689-2E51-BF4F-AE47-7CEB7CC4C52A}"/>
              </a:ext>
            </a:extLst>
          </p:cNvPr>
          <p:cNvSpPr>
            <a:spLocks noGrp="1"/>
          </p:cNvSpPr>
          <p:nvPr>
            <p:ph type="title"/>
          </p:nvPr>
        </p:nvSpPr>
        <p:spPr/>
        <p:txBody>
          <a:bodyPr rtlCol="0">
            <a:normAutofit fontScale="90000"/>
          </a:bodyPr>
          <a:lstStyle/>
          <a:p>
            <a:pPr rtl="0"/>
            <a:r>
              <a:rPr lang="es-MX" dirty="0"/>
              <a:t>2. Funcionamiento del algoritmo</a:t>
            </a:r>
          </a:p>
        </p:txBody>
      </p:sp>
      <p:sp>
        <p:nvSpPr>
          <p:cNvPr id="4" name="Marcador de posición de texto 3">
            <a:extLst>
              <a:ext uri="{FF2B5EF4-FFF2-40B4-BE49-F238E27FC236}">
                <a16:creationId xmlns:a16="http://schemas.microsoft.com/office/drawing/2014/main" id="{A17F80A9-6337-524E-AC61-32C5AFEE8E6D}"/>
              </a:ext>
            </a:extLst>
          </p:cNvPr>
          <p:cNvSpPr>
            <a:spLocks noGrp="1"/>
          </p:cNvSpPr>
          <p:nvPr>
            <p:ph type="body" sz="quarter" idx="11"/>
          </p:nvPr>
        </p:nvSpPr>
        <p:spPr/>
        <p:txBody>
          <a:bodyPr rtlCol="0"/>
          <a:lstStyle/>
          <a:p>
            <a:r>
              <a:rPr lang="es-MX" dirty="0"/>
              <a:t>Explicación paso a paso con ejemplo visual</a:t>
            </a:r>
          </a:p>
          <a:p>
            <a:r>
              <a:rPr lang="es-MX" dirty="0"/>
              <a:t>Usamos la lista: [5, 2, 8, 1, 14, 17, 4, 3, 19]</a:t>
            </a:r>
          </a:p>
          <a:p>
            <a:r>
              <a:rPr lang="es-MX" dirty="0"/>
              <a:t>Ordenamiento de menor a mayor de izquierda a derecha.</a:t>
            </a:r>
          </a:p>
          <a:p>
            <a:r>
              <a:rPr lang="es-MX" dirty="0" err="1"/>
              <a:t>Cocktail</a:t>
            </a:r>
            <a:r>
              <a:rPr lang="es-MX" dirty="0"/>
              <a:t> </a:t>
            </a:r>
            <a:r>
              <a:rPr lang="es-MX" dirty="0" err="1"/>
              <a:t>Sort</a:t>
            </a:r>
            <a:r>
              <a:rPr lang="es-MX" dirty="0"/>
              <a:t> funciona alternando direcciones en cada pasada. Cada iteración completa consiste en dos fases:</a:t>
            </a:r>
          </a:p>
          <a:p>
            <a:r>
              <a:rPr lang="es-MX" dirty="0"/>
              <a:t>Fase derecha (→): Recorre de izquierda a derecha comparando pares adyacentes, moviendo el elemento más grande hacia el final</a:t>
            </a:r>
          </a:p>
          <a:p>
            <a:r>
              <a:rPr lang="es-MX" dirty="0"/>
              <a:t>Fase izquierda (←): Recorre de derecha a izquierda comparando pares adyacentes, moviendo el elemento más pequeño hacia el inicio</a:t>
            </a:r>
          </a:p>
          <a:p>
            <a:pPr rtl="0"/>
            <a:endParaRPr lang="es-MX" dirty="0"/>
          </a:p>
        </p:txBody>
      </p:sp>
      <p:sp>
        <p:nvSpPr>
          <p:cNvPr id="7" name="Marcador de posición de número de diapositiva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a:t>3</a:t>
            </a:fld>
            <a:endParaRPr lang="es-MX"/>
          </a:p>
        </p:txBody>
      </p:sp>
      <p:pic>
        <p:nvPicPr>
          <p:cNvPr id="53" name="Marcador de posición de imagen 52" descr="Bombillas colgantes">
            <a:extLst>
              <a:ext uri="{FF2B5EF4-FFF2-40B4-BE49-F238E27FC236}">
                <a16:creationId xmlns:a16="http://schemas.microsoft.com/office/drawing/2014/main" id="{CAC9EF15-08A3-406D-9236-76A5454D5F8A}"/>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91246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7728DC-195E-4A4E-AEBA-5E0D1DB03B76}"/>
              </a:ext>
            </a:extLst>
          </p:cNvPr>
          <p:cNvSpPr>
            <a:spLocks noGrp="1"/>
          </p:cNvSpPr>
          <p:nvPr>
            <p:ph type="title"/>
          </p:nvPr>
        </p:nvSpPr>
        <p:spPr>
          <a:xfrm>
            <a:off x="964022" y="2476500"/>
            <a:ext cx="7132320" cy="3289971"/>
          </a:xfrm>
        </p:spPr>
        <p:txBody>
          <a:bodyPr rtlCol="0">
            <a:noAutofit/>
          </a:bodyPr>
          <a:lstStyle/>
          <a:p>
            <a:r>
              <a:rPr lang="es-MX" sz="2000" dirty="0"/>
              <a:t>De esta forma, el algoritmo ordena "de afuera hacia dentro", fijando los extremos progresivamente.</a:t>
            </a:r>
            <a:br>
              <a:rPr lang="es-MX" sz="2000" dirty="0"/>
            </a:br>
            <a:r>
              <a:rPr lang="es-MX" sz="2000" dirty="0"/>
              <a:t>Lista inicial: [5, 2, 8, 1, 14, 17, 4, 3, 19]</a:t>
            </a:r>
            <a:br>
              <a:rPr lang="es-MX" sz="2000" dirty="0"/>
            </a:br>
            <a:r>
              <a:rPr lang="es-MX" sz="2000" dirty="0"/>
              <a:t>Iteración 1:</a:t>
            </a:r>
            <a:br>
              <a:rPr lang="es-MX" sz="2000" dirty="0"/>
            </a:br>
            <a:r>
              <a:rPr lang="es-MX" sz="2000" dirty="0"/>
              <a:t> </a:t>
            </a:r>
            <a:br>
              <a:rPr lang="es-MX" sz="2000" dirty="0"/>
            </a:br>
            <a:r>
              <a:rPr lang="es-MX" sz="2000" dirty="0"/>
              <a:t>Pasada → (izquierda a derecha): [2, 5, 1, 8, 14, 4, 3, 17, 19] — El 19 llega al final</a:t>
            </a:r>
            <a:br>
              <a:rPr lang="es-MX" sz="2000" dirty="0"/>
            </a:br>
            <a:r>
              <a:rPr lang="es-MX" sz="2000" dirty="0"/>
              <a:t>Pasada ← (derecha a izquierda): [1, 2, 5, 8, 14, 4, 3, 17, 19] — El 1 llega al inicio</a:t>
            </a:r>
            <a:br>
              <a:rPr lang="es-MX" sz="2000" dirty="0"/>
            </a:br>
            <a:br>
              <a:rPr lang="es-MX" sz="2000" dirty="0"/>
            </a:br>
            <a:endParaRPr lang="es-MX" sz="2000" dirty="0"/>
          </a:p>
        </p:txBody>
      </p:sp>
    </p:spTree>
    <p:extLst>
      <p:ext uri="{BB962C8B-B14F-4D97-AF65-F5344CB8AC3E}">
        <p14:creationId xmlns:p14="http://schemas.microsoft.com/office/powerpoint/2010/main" val="4206035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14A30-8D0B-1477-7B11-14FD92B9CE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35F1A3-56E1-89FB-BCC3-0A9791C8F666}"/>
              </a:ext>
            </a:extLst>
          </p:cNvPr>
          <p:cNvSpPr>
            <a:spLocks noGrp="1"/>
          </p:cNvSpPr>
          <p:nvPr>
            <p:ph type="title"/>
          </p:nvPr>
        </p:nvSpPr>
        <p:spPr>
          <a:xfrm>
            <a:off x="964022" y="2476500"/>
            <a:ext cx="7132320" cy="3289971"/>
          </a:xfrm>
        </p:spPr>
        <p:txBody>
          <a:bodyPr rtlCol="0">
            <a:noAutofit/>
          </a:bodyPr>
          <a:lstStyle/>
          <a:p>
            <a:r>
              <a:rPr lang="es-MX" sz="1600" dirty="0"/>
              <a:t>Iteración 2:</a:t>
            </a:r>
            <a:br>
              <a:rPr lang="es-MX" sz="1600" dirty="0"/>
            </a:br>
            <a:r>
              <a:rPr lang="es-MX" sz="1600" dirty="0"/>
              <a:t> </a:t>
            </a:r>
            <a:br>
              <a:rPr lang="es-MX" sz="1600" dirty="0"/>
            </a:br>
            <a:r>
              <a:rPr lang="es-MX" sz="1600" dirty="0"/>
              <a:t>Pasada →: [1, 2, 5, 8, 4, 3, 14, 17, 19] — El 17 queda en posición</a:t>
            </a:r>
            <a:br>
              <a:rPr lang="es-MX" sz="1600" dirty="0"/>
            </a:br>
            <a:r>
              <a:rPr lang="es-MX" sz="1600" dirty="0"/>
              <a:t>Pasada ←: [1, 2, 5, 8, 4, 3, 14, 17, 19] — El 2 ya está en posición</a:t>
            </a:r>
            <a:br>
              <a:rPr lang="es-MX" sz="1600" dirty="0"/>
            </a:br>
            <a:r>
              <a:rPr lang="es-MX" sz="1600" dirty="0"/>
              <a:t> </a:t>
            </a:r>
            <a:br>
              <a:rPr lang="es-MX" sz="1600" dirty="0"/>
            </a:br>
            <a:r>
              <a:rPr lang="es-MX" sz="1600" dirty="0"/>
              <a:t>Iteración 3:</a:t>
            </a:r>
            <a:br>
              <a:rPr lang="es-MX" sz="1600" dirty="0"/>
            </a:br>
            <a:r>
              <a:rPr lang="es-MX" sz="1600" dirty="0"/>
              <a:t> </a:t>
            </a:r>
            <a:br>
              <a:rPr lang="es-MX" sz="1600" dirty="0"/>
            </a:br>
            <a:r>
              <a:rPr lang="es-MX" sz="1600" dirty="0"/>
              <a:t>Pasada →: [1, 2, 5, 4, 3, 8, 14, 17, 19] — El 14 queda en posición</a:t>
            </a:r>
            <a:br>
              <a:rPr lang="es-MX" sz="1600" dirty="0"/>
            </a:br>
            <a:r>
              <a:rPr lang="es-MX" sz="1600" dirty="0"/>
              <a:t>Pasada ←: [1, 2, 3, 4, 5, 8, 14, 17, 19] — El 3 llega a su posición</a:t>
            </a:r>
            <a:br>
              <a:rPr lang="es-MX" sz="1600" dirty="0"/>
            </a:br>
            <a:r>
              <a:rPr lang="es-MX" sz="1600" dirty="0"/>
              <a:t> </a:t>
            </a:r>
            <a:br>
              <a:rPr lang="es-MX" sz="1600" dirty="0"/>
            </a:br>
            <a:r>
              <a:rPr lang="es-MX" sz="1600" dirty="0"/>
              <a:t>Iteración 4:</a:t>
            </a:r>
            <a:br>
              <a:rPr lang="es-MX" sz="1600" dirty="0"/>
            </a:br>
            <a:r>
              <a:rPr lang="es-MX" sz="1600" dirty="0"/>
              <a:t> </a:t>
            </a:r>
            <a:br>
              <a:rPr lang="es-MX" sz="1600" dirty="0"/>
            </a:br>
            <a:r>
              <a:rPr lang="es-MX" sz="1600" dirty="0"/>
              <a:t>Pasada →: [1, 2, 3, 4, 5, 8, 14, 17, 19] — El 8 ya está ordenado</a:t>
            </a:r>
            <a:br>
              <a:rPr lang="es-MX" sz="1600" dirty="0"/>
            </a:br>
            <a:r>
              <a:rPr lang="es-MX" sz="1600" dirty="0"/>
              <a:t>El algoritmo detecta que no hubo intercambios, por lo que la lista está ordenada</a:t>
            </a:r>
            <a:br>
              <a:rPr lang="es-MX" sz="1600" dirty="0"/>
            </a:br>
            <a:r>
              <a:rPr lang="es-MX" sz="1600" dirty="0"/>
              <a:t> </a:t>
            </a:r>
            <a:br>
              <a:rPr lang="es-MX" sz="1600" dirty="0"/>
            </a:br>
            <a:r>
              <a:rPr lang="es-MX" sz="1600" dirty="0"/>
              <a:t>Resultado final: [1, 2, 3, 4, 5, 8, 14, 17, 19]</a:t>
            </a:r>
          </a:p>
        </p:txBody>
      </p:sp>
    </p:spTree>
    <p:extLst>
      <p:ext uri="{BB962C8B-B14F-4D97-AF65-F5344CB8AC3E}">
        <p14:creationId xmlns:p14="http://schemas.microsoft.com/office/powerpoint/2010/main" val="839241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C2BCC-66CD-5868-8C2C-96A006DFC61A}"/>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66790529-207F-26CD-E6B4-9530274125CD}"/>
              </a:ext>
            </a:extLst>
          </p:cNvPr>
          <p:cNvSpPr>
            <a:spLocks noGrp="1"/>
          </p:cNvSpPr>
          <p:nvPr>
            <p:ph type="title"/>
          </p:nvPr>
        </p:nvSpPr>
        <p:spPr/>
        <p:txBody>
          <a:bodyPr rtlCol="0">
            <a:normAutofit fontScale="90000"/>
          </a:bodyPr>
          <a:lstStyle/>
          <a:p>
            <a:pPr rtl="0"/>
            <a:r>
              <a:rPr lang="es-MX" dirty="0"/>
              <a:t>2. Funcionamiento del algoritmo</a:t>
            </a:r>
          </a:p>
        </p:txBody>
      </p:sp>
      <p:sp>
        <p:nvSpPr>
          <p:cNvPr id="4" name="Marcador de posición de texto 3">
            <a:extLst>
              <a:ext uri="{FF2B5EF4-FFF2-40B4-BE49-F238E27FC236}">
                <a16:creationId xmlns:a16="http://schemas.microsoft.com/office/drawing/2014/main" id="{3F9FEE08-CA49-1FF8-6253-AB654B38B152}"/>
              </a:ext>
            </a:extLst>
          </p:cNvPr>
          <p:cNvSpPr>
            <a:spLocks noGrp="1"/>
          </p:cNvSpPr>
          <p:nvPr>
            <p:ph type="body" sz="quarter" idx="11"/>
          </p:nvPr>
        </p:nvSpPr>
        <p:spPr>
          <a:xfrm>
            <a:off x="333935" y="2031384"/>
            <a:ext cx="4786705" cy="2795232"/>
          </a:xfrm>
        </p:spPr>
        <p:txBody>
          <a:bodyPr rtlCol="0"/>
          <a:lstStyle/>
          <a:p>
            <a:r>
              <a:rPr lang="es-MX" sz="1400" b="1" dirty="0"/>
              <a:t>Ejemplo visual de </a:t>
            </a:r>
            <a:r>
              <a:rPr lang="es-MX" sz="1400" b="1" dirty="0" err="1"/>
              <a:t>Cocktail</a:t>
            </a:r>
            <a:r>
              <a:rPr lang="es-MX" sz="1400" b="1" dirty="0"/>
              <a:t> </a:t>
            </a:r>
            <a:r>
              <a:rPr lang="es-MX" sz="1400" b="1" dirty="0" err="1"/>
              <a:t>Sort</a:t>
            </a:r>
            <a:endParaRPr lang="es-MX" sz="1400" dirty="0"/>
          </a:p>
          <a:p>
            <a:r>
              <a:rPr lang="es-MX" sz="1400" b="1" dirty="0"/>
              <a:t>Lista inicial:</a:t>
            </a:r>
            <a:r>
              <a:rPr lang="es-MX" sz="1400" dirty="0"/>
              <a:t> [9, 3, 7, 2, 6, 1, 8, 4]</a:t>
            </a:r>
          </a:p>
          <a:p>
            <a:r>
              <a:rPr lang="es-MX" sz="1400" dirty="0"/>
              <a:t>Ordenamiento de menor a mayor.</a:t>
            </a:r>
          </a:p>
          <a:p>
            <a:r>
              <a:rPr lang="es-MX" sz="1400" b="1" dirty="0"/>
              <a:t>Iteración 1:</a:t>
            </a:r>
            <a:endParaRPr lang="es-MX" sz="1400" dirty="0"/>
          </a:p>
          <a:p>
            <a:r>
              <a:rPr lang="es-MX" sz="1400" b="1" dirty="0"/>
              <a:t>Pasada → (izquierda a derecha):</a:t>
            </a:r>
            <a:endParaRPr lang="es-MX" sz="1400" dirty="0"/>
          </a:p>
          <a:p>
            <a:pPr lvl="0"/>
            <a:r>
              <a:rPr lang="es-MX" sz="1400" dirty="0"/>
              <a:t>[3, 9, 7, 2, 6, 1, 8, 4] — Compara 9 y 3, intercambia</a:t>
            </a:r>
          </a:p>
          <a:p>
            <a:pPr lvl="0"/>
            <a:r>
              <a:rPr lang="es-MX" sz="1400" dirty="0"/>
              <a:t>[3, 7, 9, 2, 6, 1, 8, 4] — Compara 9 y 7, intercambia</a:t>
            </a:r>
          </a:p>
          <a:p>
            <a:pPr lvl="0"/>
            <a:r>
              <a:rPr lang="es-MX" sz="1400" dirty="0"/>
              <a:t>[3, 7, 2, 9, 6, 1, 8, 4] — Compara 9 y 2, intercambia</a:t>
            </a:r>
          </a:p>
          <a:p>
            <a:pPr lvl="0"/>
            <a:r>
              <a:rPr lang="es-MX" sz="1400" dirty="0"/>
              <a:t>[3, 7, 2, 6, 9, 1, 8, 4] — Compara 9 y 6, intercambia</a:t>
            </a:r>
          </a:p>
          <a:p>
            <a:pPr lvl="0"/>
            <a:r>
              <a:rPr lang="es-MX" sz="1400" dirty="0"/>
              <a:t>[3, 7, 2, 6, 1, 9, 8, 4] — Compara 9 y 1, intercambia</a:t>
            </a:r>
          </a:p>
          <a:p>
            <a:pPr lvl="0"/>
            <a:r>
              <a:rPr lang="es-MX" sz="1400" dirty="0"/>
              <a:t>[3, 7, 2, 6, 1, 8, 9, 4] — Compara 9 y 8, intercambia</a:t>
            </a:r>
          </a:p>
          <a:p>
            <a:pPr lvl="0"/>
            <a:r>
              <a:rPr lang="es-MX" sz="1400" dirty="0"/>
              <a:t>[3, 7, 2, 6, 1, 8, 4, </a:t>
            </a:r>
            <a:r>
              <a:rPr lang="es-MX" sz="1400" b="1" dirty="0"/>
              <a:t>9</a:t>
            </a:r>
            <a:r>
              <a:rPr lang="es-MX" sz="1400" dirty="0"/>
              <a:t>] — Compara 9 y 4, intercambia. </a:t>
            </a:r>
            <a:r>
              <a:rPr lang="es-MX" sz="1400" b="1" dirty="0"/>
              <a:t>9 queda fijo</a:t>
            </a:r>
            <a:endParaRPr lang="es-MX" sz="1400" dirty="0"/>
          </a:p>
          <a:p>
            <a:endParaRPr lang="es-MX" sz="1400" dirty="0"/>
          </a:p>
        </p:txBody>
      </p:sp>
      <p:sp>
        <p:nvSpPr>
          <p:cNvPr id="7" name="Marcador de posición de número de diapositiva 6">
            <a:extLst>
              <a:ext uri="{FF2B5EF4-FFF2-40B4-BE49-F238E27FC236}">
                <a16:creationId xmlns:a16="http://schemas.microsoft.com/office/drawing/2014/main" id="{A426448F-355D-9BBA-CB79-488738C6E015}"/>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6</a:t>
            </a:fld>
            <a:endParaRPr lang="es-MX"/>
          </a:p>
        </p:txBody>
      </p:sp>
      <p:sp>
        <p:nvSpPr>
          <p:cNvPr id="6" name="Marcador de posición de texto 3">
            <a:extLst>
              <a:ext uri="{FF2B5EF4-FFF2-40B4-BE49-F238E27FC236}">
                <a16:creationId xmlns:a16="http://schemas.microsoft.com/office/drawing/2014/main" id="{345B1DD5-3B6E-CE23-1B66-91E1C7ECDF22}"/>
              </a:ext>
            </a:extLst>
          </p:cNvPr>
          <p:cNvSpPr txBox="1">
            <a:spLocks/>
          </p:cNvSpPr>
          <p:nvPr/>
        </p:nvSpPr>
        <p:spPr>
          <a:xfrm>
            <a:off x="5633869" y="2031384"/>
            <a:ext cx="4786705" cy="279523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400" b="1" dirty="0"/>
              <a:t>Pasada ← (derecha a izquierda):</a:t>
            </a:r>
            <a:endParaRPr lang="es-MX" sz="1400" dirty="0"/>
          </a:p>
          <a:p>
            <a:pPr lvl="0"/>
            <a:r>
              <a:rPr lang="es-MX" sz="1400" dirty="0"/>
              <a:t>[3, 7, 2, 6, 1, 4, 8, 9] — Compara 8 y 4, intercambia</a:t>
            </a:r>
          </a:p>
          <a:p>
            <a:pPr lvl="0"/>
            <a:r>
              <a:rPr lang="es-MX" sz="1400" dirty="0"/>
              <a:t>[3, 7, 2, 6, 1, 4, 8, 9] — Compara 4 y 1, no intercambia</a:t>
            </a:r>
          </a:p>
          <a:p>
            <a:pPr lvl="0"/>
            <a:r>
              <a:rPr lang="es-MX" sz="1400" dirty="0"/>
              <a:t>[3, 7, 2, 6, 1, 4, 8, 9] — Compara 1 y 6, intercambia</a:t>
            </a:r>
          </a:p>
          <a:p>
            <a:pPr lvl="0"/>
            <a:r>
              <a:rPr lang="es-MX" sz="1400" dirty="0"/>
              <a:t>[3, 7, 2, 1, 6, 4, 8, 9] — Compara 1 y 2, intercambia</a:t>
            </a:r>
          </a:p>
          <a:p>
            <a:pPr lvl="0"/>
            <a:r>
              <a:rPr lang="es-MX" sz="1400" dirty="0"/>
              <a:t>[3, 7, 1, 2, 6, 4, 8, 9] — Compara 1 y 7, intercambia</a:t>
            </a:r>
          </a:p>
          <a:p>
            <a:pPr lvl="0"/>
            <a:r>
              <a:rPr lang="es-MX" sz="1400" dirty="0"/>
              <a:t>[3, 1, 7, 2, 6, 4, 8, 9] — Compara 1 y 3, intercambia</a:t>
            </a:r>
          </a:p>
          <a:p>
            <a:r>
              <a:rPr lang="es-MX" dirty="0"/>
              <a:t>[</a:t>
            </a:r>
            <a:r>
              <a:rPr lang="es-MX" b="1" dirty="0"/>
              <a:t>1</a:t>
            </a:r>
            <a:r>
              <a:rPr lang="es-MX" dirty="0"/>
              <a:t>, 3, 7, 2, 6, 4, 8, 9] — </a:t>
            </a:r>
            <a:r>
              <a:rPr lang="es-MX" b="1" dirty="0"/>
              <a:t>1 queda fijo</a:t>
            </a:r>
            <a:endParaRPr lang="es-MX" dirty="0"/>
          </a:p>
          <a:p>
            <a:endParaRPr lang="es-MX" sz="1400" dirty="0"/>
          </a:p>
        </p:txBody>
      </p:sp>
    </p:spTree>
    <p:extLst>
      <p:ext uri="{BB962C8B-B14F-4D97-AF65-F5344CB8AC3E}">
        <p14:creationId xmlns:p14="http://schemas.microsoft.com/office/powerpoint/2010/main" val="3473844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26C45-79DE-7A19-96E3-DC2CF19079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D84DEB-D533-51C0-508F-DA9E03D23B16}"/>
              </a:ext>
            </a:extLst>
          </p:cNvPr>
          <p:cNvSpPr>
            <a:spLocks noGrp="1"/>
          </p:cNvSpPr>
          <p:nvPr>
            <p:ph type="title"/>
          </p:nvPr>
        </p:nvSpPr>
        <p:spPr>
          <a:xfrm>
            <a:off x="964022" y="2476500"/>
            <a:ext cx="6146783" cy="3289971"/>
          </a:xfrm>
        </p:spPr>
        <p:txBody>
          <a:bodyPr rtlCol="0">
            <a:noAutofit/>
          </a:bodyPr>
          <a:lstStyle/>
          <a:p>
            <a:r>
              <a:rPr lang="es-MX" sz="1400" b="1" dirty="0"/>
              <a:t>Iteración 2:</a:t>
            </a:r>
            <a:br>
              <a:rPr lang="es-MX" sz="1400" dirty="0"/>
            </a:br>
            <a:r>
              <a:rPr lang="es-MX" sz="1400" b="1" dirty="0"/>
              <a:t>Pasada →:</a:t>
            </a:r>
            <a:br>
              <a:rPr lang="es-MX" sz="1400" dirty="0"/>
            </a:br>
            <a:r>
              <a:rPr lang="es-MX" sz="1400" dirty="0"/>
              <a:t>[1, 3, 7, 2, 6, 4, 8, 9] — Compara 3 y 7, no intercambia</a:t>
            </a:r>
            <a:br>
              <a:rPr lang="es-MX" sz="1400" dirty="0"/>
            </a:br>
            <a:r>
              <a:rPr lang="es-MX" sz="1400" dirty="0"/>
              <a:t>[1, 3, 2, 7, 6, 4, 8, 9] — Compara 7 y 2, intercambia</a:t>
            </a:r>
            <a:br>
              <a:rPr lang="es-MX" sz="1400" dirty="0"/>
            </a:br>
            <a:r>
              <a:rPr lang="es-MX" sz="1400" dirty="0"/>
              <a:t>[1, 3, 2, 6, 7, 4, 8, 9] — Compara 7 y 6, intercambia</a:t>
            </a:r>
            <a:br>
              <a:rPr lang="es-MX" sz="1400" dirty="0"/>
            </a:br>
            <a:r>
              <a:rPr lang="es-MX" sz="1400" dirty="0"/>
              <a:t>[1, 3, 2, 6, 4, 7, 8, 9] — Compara 7 y 4, intercambia</a:t>
            </a:r>
            <a:br>
              <a:rPr lang="es-MX" sz="1400" dirty="0"/>
            </a:br>
            <a:r>
              <a:rPr lang="es-MX" sz="1400" dirty="0"/>
              <a:t>[1, 3, 2, 6, 4, 7, </a:t>
            </a:r>
            <a:r>
              <a:rPr lang="es-MX" sz="1400" b="1" dirty="0"/>
              <a:t>8</a:t>
            </a:r>
            <a:r>
              <a:rPr lang="es-MX" sz="1400" dirty="0"/>
              <a:t>, 9] — Compara 7 y 8, no intercambia. </a:t>
            </a:r>
            <a:r>
              <a:rPr lang="es-MX" sz="1400" b="1" dirty="0"/>
              <a:t>8 queda fijo</a:t>
            </a:r>
            <a:br>
              <a:rPr lang="es-MX" sz="1400" dirty="0"/>
            </a:br>
            <a:r>
              <a:rPr lang="es-MX" sz="1400" b="1" dirty="0"/>
              <a:t>Pasada ←:</a:t>
            </a:r>
            <a:br>
              <a:rPr lang="es-MX" sz="1400" dirty="0"/>
            </a:br>
            <a:r>
              <a:rPr lang="es-MX" sz="1400" dirty="0"/>
              <a:t>[1, 3, 2, 4, 6, 7, 8, 9] — Compara 6 y 4, intercambia</a:t>
            </a:r>
            <a:br>
              <a:rPr lang="es-MX" sz="1400" dirty="0"/>
            </a:br>
            <a:r>
              <a:rPr lang="es-MX" sz="1400" dirty="0"/>
              <a:t>[1, 3, 2, 4, 6, 7, 8, 9] — Compara 4 y 2, intercambia</a:t>
            </a:r>
            <a:br>
              <a:rPr lang="es-MX" sz="1400" dirty="0"/>
            </a:br>
            <a:r>
              <a:rPr lang="es-MX" sz="1400" dirty="0"/>
              <a:t>[1, 3, 2, 4, 6, 7, 8, 9] — Compara 2 y 3, intercambia</a:t>
            </a:r>
            <a:br>
              <a:rPr lang="es-MX" sz="1400" dirty="0"/>
            </a:br>
            <a:r>
              <a:rPr lang="es-MX" sz="1400" dirty="0"/>
              <a:t>[1, </a:t>
            </a:r>
            <a:r>
              <a:rPr lang="es-MX" sz="1400" b="1" dirty="0"/>
              <a:t>2</a:t>
            </a:r>
            <a:r>
              <a:rPr lang="es-MX" sz="1400" dirty="0"/>
              <a:t>, 3, 4, 6, 7, 8, 9] — </a:t>
            </a:r>
            <a:r>
              <a:rPr lang="es-MX" sz="1400" b="1" dirty="0"/>
              <a:t>2 queda fijo</a:t>
            </a:r>
            <a:br>
              <a:rPr lang="es-MX" sz="1400" dirty="0"/>
            </a:br>
            <a:br>
              <a:rPr lang="es-MX" sz="1400" dirty="0"/>
            </a:br>
            <a:br>
              <a:rPr lang="es-MX" sz="1400" dirty="0"/>
            </a:br>
            <a:endParaRPr lang="es-MX" sz="1000" dirty="0"/>
          </a:p>
        </p:txBody>
      </p:sp>
      <p:sp>
        <p:nvSpPr>
          <p:cNvPr id="3" name="Título 1">
            <a:extLst>
              <a:ext uri="{FF2B5EF4-FFF2-40B4-BE49-F238E27FC236}">
                <a16:creationId xmlns:a16="http://schemas.microsoft.com/office/drawing/2014/main" id="{3344EF1A-B8DF-DDEF-3E3A-B59E647E8246}"/>
              </a:ext>
            </a:extLst>
          </p:cNvPr>
          <p:cNvSpPr txBox="1">
            <a:spLocks/>
          </p:cNvSpPr>
          <p:nvPr/>
        </p:nvSpPr>
        <p:spPr>
          <a:xfrm>
            <a:off x="6495245" y="4000500"/>
            <a:ext cx="6146783" cy="3289971"/>
          </a:xfrm>
          <a:prstGeom prst="rect">
            <a:avLst/>
          </a:prstGeom>
          <a:ln>
            <a:noFill/>
          </a:ln>
        </p:spPr>
        <p:txBody>
          <a:bodyPr vert="horz" lIns="0" tIns="0" rIns="0" bIns="0" rtlCol="0" anchor="t" anchorCtr="0">
            <a:noAutofit/>
          </a:bodyPr>
          <a:lstStyle>
            <a:lvl1pPr algn="l" defTabSz="914400" rtl="0" eaLnBrk="1" latinLnBrk="0" hangingPunct="1">
              <a:lnSpc>
                <a:spcPct val="100000"/>
              </a:lnSpc>
              <a:spcBef>
                <a:spcPct val="0"/>
              </a:spcBef>
              <a:buNone/>
              <a:defRPr sz="2800" b="0" i="0" kern="1200" spc="100" baseline="0">
                <a:solidFill>
                  <a:schemeClr val="bg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2000" b="1" dirty="0"/>
              <a:t>Iteración 3:</a:t>
            </a:r>
            <a:endParaRPr lang="es-MX" sz="2000" dirty="0"/>
          </a:p>
          <a:p>
            <a:r>
              <a:rPr lang="es-MX" sz="2000" b="1" dirty="0"/>
              <a:t>Pasada →:</a:t>
            </a:r>
            <a:endParaRPr lang="es-MX" sz="2000" dirty="0"/>
          </a:p>
          <a:p>
            <a:pPr lvl="0"/>
            <a:r>
              <a:rPr lang="es-MX" sz="2000" dirty="0"/>
              <a:t>[1, 2, 3, 4, 6, 7, 8, 9] — No hay intercambios</a:t>
            </a:r>
          </a:p>
          <a:p>
            <a:r>
              <a:rPr lang="es-MX" sz="2000" b="1" dirty="0"/>
              <a:t>Pasada ←:</a:t>
            </a:r>
            <a:endParaRPr lang="es-MX" sz="2000" dirty="0"/>
          </a:p>
          <a:p>
            <a:pPr lvl="0"/>
            <a:r>
              <a:rPr lang="es-MX" sz="2000" dirty="0"/>
              <a:t>[1, 2, 3, 4, 6, 7, 8, 9] — No hay intercambios</a:t>
            </a:r>
          </a:p>
          <a:p>
            <a:r>
              <a:rPr lang="es-MX" sz="2000" b="1" dirty="0"/>
              <a:t>Lista ordenada:</a:t>
            </a:r>
            <a:r>
              <a:rPr lang="es-MX" sz="2000" dirty="0"/>
              <a:t> [1, 2, 3, 4, 6, 7, 8, 9] </a:t>
            </a:r>
          </a:p>
          <a:p>
            <a:br>
              <a:rPr lang="es-MX" sz="1100" dirty="0"/>
            </a:br>
            <a:br>
              <a:rPr lang="es-MX" sz="1100" dirty="0"/>
            </a:br>
            <a:endParaRPr lang="es-MX" sz="800" dirty="0"/>
          </a:p>
        </p:txBody>
      </p:sp>
    </p:spTree>
    <p:extLst>
      <p:ext uri="{BB962C8B-B14F-4D97-AF65-F5344CB8AC3E}">
        <p14:creationId xmlns:p14="http://schemas.microsoft.com/office/powerpoint/2010/main" val="3573758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9CD657E5-4675-E84E-840E-4F6D4868C5A9}"/>
              </a:ext>
            </a:extLst>
          </p:cNvPr>
          <p:cNvSpPr>
            <a:spLocks noGrp="1"/>
          </p:cNvSpPr>
          <p:nvPr>
            <p:ph type="body" idx="1"/>
          </p:nvPr>
        </p:nvSpPr>
        <p:spPr/>
        <p:txBody>
          <a:bodyPr rtlCol="0"/>
          <a:lstStyle/>
          <a:p>
            <a:pPr rtl="0"/>
            <a:r>
              <a:rPr lang="es-MX" dirty="0"/>
              <a:t>Ventajas</a:t>
            </a:r>
          </a:p>
        </p:txBody>
      </p:sp>
      <p:sp>
        <p:nvSpPr>
          <p:cNvPr id="5" name="Marcador de posición de contenido 4">
            <a:extLst>
              <a:ext uri="{FF2B5EF4-FFF2-40B4-BE49-F238E27FC236}">
                <a16:creationId xmlns:a16="http://schemas.microsoft.com/office/drawing/2014/main" id="{0B4B9306-DDC0-AD4F-A9C2-739C6AEB0172}"/>
              </a:ext>
            </a:extLst>
          </p:cNvPr>
          <p:cNvSpPr>
            <a:spLocks noGrp="1"/>
          </p:cNvSpPr>
          <p:nvPr>
            <p:ph sz="half" idx="2"/>
          </p:nvPr>
        </p:nvSpPr>
        <p:spPr>
          <a:xfrm>
            <a:off x="964023" y="2786446"/>
            <a:ext cx="4827178" cy="1942138"/>
          </a:xfrm>
        </p:spPr>
        <p:txBody>
          <a:bodyPr rtlCol="0"/>
          <a:lstStyle/>
          <a:p>
            <a:r>
              <a:rPr lang="es-MX" dirty="0"/>
              <a:t>-Es una mejora sobre el ordenamiento de burbuja básico, ya que puede acelerar el movimiento de elementos grandes hacia el final y elementos pequeños hacia el principio.</a:t>
            </a:r>
          </a:p>
          <a:p>
            <a:r>
              <a:rPr lang="es-MX" dirty="0"/>
              <a:t>-Suele ser más eficiente que el ordenamiento de burbuja en la práctica. </a:t>
            </a:r>
          </a:p>
          <a:p>
            <a:pPr marL="0" indent="0" rtl="0">
              <a:buNone/>
            </a:pPr>
            <a:endParaRPr lang="es-MX" dirty="0"/>
          </a:p>
          <a:p>
            <a:pPr rtl="0"/>
            <a:endParaRPr lang="es-MX" dirty="0"/>
          </a:p>
        </p:txBody>
      </p:sp>
      <p:sp>
        <p:nvSpPr>
          <p:cNvPr id="4" name="Marcador de posición de texto 3">
            <a:extLst>
              <a:ext uri="{FF2B5EF4-FFF2-40B4-BE49-F238E27FC236}">
                <a16:creationId xmlns:a16="http://schemas.microsoft.com/office/drawing/2014/main" id="{6AF03CC0-7DA0-ED4F-B612-580E138D588A}"/>
              </a:ext>
            </a:extLst>
          </p:cNvPr>
          <p:cNvSpPr>
            <a:spLocks noGrp="1"/>
          </p:cNvSpPr>
          <p:nvPr>
            <p:ph type="body" idx="10"/>
          </p:nvPr>
        </p:nvSpPr>
        <p:spPr/>
        <p:txBody>
          <a:bodyPr rtlCol="0"/>
          <a:lstStyle/>
          <a:p>
            <a:r>
              <a:rPr lang="es-MX" dirty="0"/>
              <a:t>Desventajas</a:t>
            </a:r>
          </a:p>
        </p:txBody>
      </p:sp>
      <p:sp>
        <p:nvSpPr>
          <p:cNvPr id="6" name="Marcador de posición de contenido 5">
            <a:extLst>
              <a:ext uri="{FF2B5EF4-FFF2-40B4-BE49-F238E27FC236}">
                <a16:creationId xmlns:a16="http://schemas.microsoft.com/office/drawing/2014/main" id="{B7D8EEE0-6E1C-9F47-936F-25FCC2FC368C}"/>
              </a:ext>
            </a:extLst>
          </p:cNvPr>
          <p:cNvSpPr>
            <a:spLocks noGrp="1"/>
          </p:cNvSpPr>
          <p:nvPr>
            <p:ph sz="half" idx="13"/>
          </p:nvPr>
        </p:nvSpPr>
        <p:spPr/>
        <p:txBody>
          <a:bodyPr rtlCol="0">
            <a:normAutofit lnSpcReduction="10000"/>
          </a:bodyPr>
          <a:lstStyle/>
          <a:p>
            <a:r>
              <a:rPr lang="es-MX" dirty="0"/>
              <a:t>-Su complejidad en el peor y caso promedio es O(n^2)lo que lo hace ineficiente para conjuntos de datos grandes en comparación con algoritmos más avanzados como </a:t>
            </a:r>
            <a:r>
              <a:rPr lang="es-MX" dirty="0" err="1"/>
              <a:t>merge</a:t>
            </a:r>
            <a:r>
              <a:rPr lang="es-MX" dirty="0"/>
              <a:t> </a:t>
            </a:r>
            <a:r>
              <a:rPr lang="es-MX" dirty="0" err="1"/>
              <a:t>sort</a:t>
            </a:r>
            <a:r>
              <a:rPr lang="es-MX" dirty="0"/>
              <a:t> o </a:t>
            </a:r>
            <a:r>
              <a:rPr lang="es-MX" dirty="0" err="1"/>
              <a:t>quick</a:t>
            </a:r>
            <a:r>
              <a:rPr lang="es-MX" dirty="0"/>
              <a:t> </a:t>
            </a:r>
            <a:r>
              <a:rPr lang="es-MX" dirty="0" err="1"/>
              <a:t>sort</a:t>
            </a:r>
            <a:r>
              <a:rPr lang="es-MX" dirty="0"/>
              <a:t>.</a:t>
            </a:r>
          </a:p>
          <a:p>
            <a:r>
              <a:rPr lang="es-MX" dirty="0"/>
              <a:t>-Requiere un manejo de índices adicionales para definir el rango de cada pasada, lo que lo hace menos eficiente en cuanto a memoria en algunas implementaciones.</a:t>
            </a:r>
          </a:p>
          <a:p>
            <a:pPr marL="0" indent="0" rtl="0">
              <a:buNone/>
            </a:pPr>
            <a:endParaRPr lang="es-MX" dirty="0"/>
          </a:p>
        </p:txBody>
      </p:sp>
      <p:sp>
        <p:nvSpPr>
          <p:cNvPr id="9" name="Marcador de número de número de diapositiva 8">
            <a:extLst>
              <a:ext uri="{FF2B5EF4-FFF2-40B4-BE49-F238E27FC236}">
                <a16:creationId xmlns:a16="http://schemas.microsoft.com/office/drawing/2014/main" id="{9A5802D8-6C81-6C4F-97CF-C1F2344EE894}"/>
              </a:ext>
            </a:extLst>
          </p:cNvPr>
          <p:cNvSpPr>
            <a:spLocks noGrp="1"/>
          </p:cNvSpPr>
          <p:nvPr>
            <p:ph type="sldNum" sz="quarter" idx="16"/>
          </p:nvPr>
        </p:nvSpPr>
        <p:spPr>
          <a:xfrm>
            <a:off x="971550" y="6332220"/>
            <a:ext cx="523240" cy="247651"/>
          </a:xfrm>
        </p:spPr>
        <p:txBody>
          <a:bodyPr rtlCol="0"/>
          <a:lstStyle/>
          <a:p>
            <a:pPr algn="l" rtl="0"/>
            <a:fld id="{294A09A9-5501-47C1-A89A-A340965A2BE2}" type="slidenum">
              <a:rPr lang="es-MX" smtClean="0"/>
              <a:pPr algn="l" rtl="0"/>
              <a:t>8</a:t>
            </a:fld>
            <a:endParaRPr lang="es-MX"/>
          </a:p>
        </p:txBody>
      </p:sp>
    </p:spTree>
    <p:extLst>
      <p:ext uri="{BB962C8B-B14F-4D97-AF65-F5344CB8AC3E}">
        <p14:creationId xmlns:p14="http://schemas.microsoft.com/office/powerpoint/2010/main" val="767675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8026B5-2F88-BA48-A996-4A13FDFAA43A}"/>
              </a:ext>
            </a:extLst>
          </p:cNvPr>
          <p:cNvSpPr>
            <a:spLocks noGrp="1"/>
          </p:cNvSpPr>
          <p:nvPr>
            <p:ph type="title"/>
          </p:nvPr>
        </p:nvSpPr>
        <p:spPr>
          <a:xfrm>
            <a:off x="964023" y="879063"/>
            <a:ext cx="6231907" cy="610863"/>
          </a:xfrm>
        </p:spPr>
        <p:txBody>
          <a:bodyPr rtlCol="0">
            <a:normAutofit fontScale="90000"/>
          </a:bodyPr>
          <a:lstStyle/>
          <a:p>
            <a:r>
              <a:rPr lang="es-MX" dirty="0"/>
              <a:t>3. Características Técnicas</a:t>
            </a:r>
          </a:p>
        </p:txBody>
      </p:sp>
      <p:sp>
        <p:nvSpPr>
          <p:cNvPr id="3" name="Marcador de posición de texto 2">
            <a:extLst>
              <a:ext uri="{FF2B5EF4-FFF2-40B4-BE49-F238E27FC236}">
                <a16:creationId xmlns:a16="http://schemas.microsoft.com/office/drawing/2014/main" id="{A5ABDF8F-0AD5-5C43-9EF3-8679B9897E01}"/>
              </a:ext>
            </a:extLst>
          </p:cNvPr>
          <p:cNvSpPr>
            <a:spLocks noGrp="1"/>
          </p:cNvSpPr>
          <p:nvPr>
            <p:ph type="body" idx="1"/>
          </p:nvPr>
        </p:nvSpPr>
        <p:spPr/>
        <p:txBody>
          <a:bodyPr rtlCol="0"/>
          <a:lstStyle/>
          <a:p>
            <a:r>
              <a:rPr lang="es-MX" dirty="0"/>
              <a:t> Estabilidad:</a:t>
            </a:r>
          </a:p>
        </p:txBody>
      </p:sp>
      <p:sp>
        <p:nvSpPr>
          <p:cNvPr id="4" name="Marcador de posición de contenido 3">
            <a:extLst>
              <a:ext uri="{FF2B5EF4-FFF2-40B4-BE49-F238E27FC236}">
                <a16:creationId xmlns:a16="http://schemas.microsoft.com/office/drawing/2014/main" id="{7782A119-28D1-B54D-A879-A0DDEC296674}"/>
              </a:ext>
            </a:extLst>
          </p:cNvPr>
          <p:cNvSpPr>
            <a:spLocks noGrp="1"/>
          </p:cNvSpPr>
          <p:nvPr>
            <p:ph sz="half" idx="2"/>
          </p:nvPr>
        </p:nvSpPr>
        <p:spPr>
          <a:xfrm>
            <a:off x="952500" y="2786445"/>
            <a:ext cx="3092375" cy="2264269"/>
          </a:xfrm>
        </p:spPr>
        <p:txBody>
          <a:bodyPr rtlCol="0">
            <a:normAutofit fontScale="92500" lnSpcReduction="20000"/>
          </a:bodyPr>
          <a:lstStyle/>
          <a:p>
            <a:r>
              <a:rPr lang="es-MX" sz="1300" dirty="0"/>
              <a:t>El algoritmo </a:t>
            </a:r>
            <a:r>
              <a:rPr lang="es-MX" sz="1300" dirty="0" err="1"/>
              <a:t>Cocktail</a:t>
            </a:r>
            <a:r>
              <a:rPr lang="es-MX" sz="1300" dirty="0"/>
              <a:t> </a:t>
            </a:r>
            <a:r>
              <a:rPr lang="es-MX" sz="1300" dirty="0" err="1"/>
              <a:t>Sort</a:t>
            </a:r>
            <a:r>
              <a:rPr lang="es-MX" sz="1300" dirty="0"/>
              <a:t> es estable, lo que significa que mantiene el orden relativo de los elementos con el mismo valor. En otras palabras, si hay dos elementos con el mismo valor en la lista, su orden relativo no se ve alterado después de que el algoritmo los ordene. Esto se debe a que, al igual que en el algoritmo </a:t>
            </a:r>
            <a:r>
              <a:rPr lang="es-MX" sz="1300" dirty="0" err="1"/>
              <a:t>Bubble</a:t>
            </a:r>
            <a:r>
              <a:rPr lang="es-MX" sz="1300" dirty="0"/>
              <a:t> </a:t>
            </a:r>
            <a:r>
              <a:rPr lang="es-MX" sz="1300" dirty="0" err="1"/>
              <a:t>Sort</a:t>
            </a:r>
            <a:r>
              <a:rPr lang="es-MX" sz="1300" dirty="0"/>
              <a:t>, cuando se realiza el intercambio entre dos elementos, se compara cada par de elementos de manera secuencial y no se modifica el orden relativo de los elementos con el mismo valor.</a:t>
            </a:r>
          </a:p>
          <a:p>
            <a:r>
              <a:rPr lang="es-MX" sz="1300" dirty="0"/>
              <a:t> </a:t>
            </a:r>
          </a:p>
          <a:p>
            <a:pPr marL="0" indent="0" rtl="0">
              <a:buNone/>
            </a:pPr>
            <a:endParaRPr lang="es-MX" sz="1400" dirty="0"/>
          </a:p>
          <a:p>
            <a:pPr rtl="0"/>
            <a:endParaRPr lang="es-MX" sz="1200" dirty="0"/>
          </a:p>
        </p:txBody>
      </p:sp>
      <p:sp>
        <p:nvSpPr>
          <p:cNvPr id="5" name="Marcador de posición de texto 4">
            <a:extLst>
              <a:ext uri="{FF2B5EF4-FFF2-40B4-BE49-F238E27FC236}">
                <a16:creationId xmlns:a16="http://schemas.microsoft.com/office/drawing/2014/main" id="{B55E5840-ED0D-0349-88F3-4E90A0094985}"/>
              </a:ext>
            </a:extLst>
          </p:cNvPr>
          <p:cNvSpPr>
            <a:spLocks noGrp="1"/>
          </p:cNvSpPr>
          <p:nvPr>
            <p:ph type="body" idx="10"/>
          </p:nvPr>
        </p:nvSpPr>
        <p:spPr/>
        <p:txBody>
          <a:bodyPr rtlCol="0"/>
          <a:lstStyle/>
          <a:p>
            <a:r>
              <a:rPr lang="es-MX" dirty="0"/>
              <a:t>In-place:</a:t>
            </a:r>
          </a:p>
        </p:txBody>
      </p:sp>
      <p:sp>
        <p:nvSpPr>
          <p:cNvPr id="6" name="Marcador de posición de contenido 5">
            <a:extLst>
              <a:ext uri="{FF2B5EF4-FFF2-40B4-BE49-F238E27FC236}">
                <a16:creationId xmlns:a16="http://schemas.microsoft.com/office/drawing/2014/main" id="{34801285-85FB-FD43-9631-322998389AF0}"/>
              </a:ext>
            </a:extLst>
          </p:cNvPr>
          <p:cNvSpPr>
            <a:spLocks noGrp="1"/>
          </p:cNvSpPr>
          <p:nvPr>
            <p:ph sz="half" idx="11"/>
          </p:nvPr>
        </p:nvSpPr>
        <p:spPr/>
        <p:txBody>
          <a:bodyPr rtlCol="0">
            <a:normAutofit fontScale="85000" lnSpcReduction="10000"/>
          </a:bodyPr>
          <a:lstStyle/>
          <a:p>
            <a:r>
              <a:rPr lang="es-MX" dirty="0"/>
              <a:t> </a:t>
            </a:r>
            <a:r>
              <a:rPr lang="es-MX" dirty="0" err="1"/>
              <a:t>Cocktail</a:t>
            </a:r>
            <a:r>
              <a:rPr lang="es-MX" dirty="0"/>
              <a:t> </a:t>
            </a:r>
            <a:r>
              <a:rPr lang="es-MX" dirty="0" err="1"/>
              <a:t>Sort</a:t>
            </a:r>
            <a:r>
              <a:rPr lang="es-MX" dirty="0"/>
              <a:t> es un algoritmo </a:t>
            </a:r>
            <a:r>
              <a:rPr lang="es-MX" dirty="0" err="1"/>
              <a:t>in-place</a:t>
            </a:r>
            <a:r>
              <a:rPr lang="es-MX" dirty="0"/>
              <a:t>, lo que significa que ordena la lista sin requerir espacio adicional significativo (aparte del almacenamiento necesario para las variables de control). No necesita memoria extra proporcional al tamaño de la entrada, ya que realiza los intercambios directamente en el arreglo original.</a:t>
            </a:r>
          </a:p>
        </p:txBody>
      </p:sp>
      <p:sp>
        <p:nvSpPr>
          <p:cNvPr id="7" name="Marcador de posición de texto 6">
            <a:extLst>
              <a:ext uri="{FF2B5EF4-FFF2-40B4-BE49-F238E27FC236}">
                <a16:creationId xmlns:a16="http://schemas.microsoft.com/office/drawing/2014/main" id="{8820E658-15B8-6C4B-A736-3D894774670E}"/>
              </a:ext>
            </a:extLst>
          </p:cNvPr>
          <p:cNvSpPr>
            <a:spLocks noGrp="1"/>
          </p:cNvSpPr>
          <p:nvPr>
            <p:ph type="body" idx="12"/>
          </p:nvPr>
        </p:nvSpPr>
        <p:spPr/>
        <p:txBody>
          <a:bodyPr rtlCol="0">
            <a:normAutofit/>
          </a:bodyPr>
          <a:lstStyle/>
          <a:p>
            <a:r>
              <a:rPr lang="es-MX" dirty="0"/>
              <a:t>Adaptabilidad:</a:t>
            </a:r>
          </a:p>
        </p:txBody>
      </p:sp>
      <p:sp>
        <p:nvSpPr>
          <p:cNvPr id="8" name="Marcador de posición de contenido 7">
            <a:extLst>
              <a:ext uri="{FF2B5EF4-FFF2-40B4-BE49-F238E27FC236}">
                <a16:creationId xmlns:a16="http://schemas.microsoft.com/office/drawing/2014/main" id="{7F52F621-1B1F-5E49-939F-12BD1A0FD522}"/>
              </a:ext>
            </a:extLst>
          </p:cNvPr>
          <p:cNvSpPr>
            <a:spLocks noGrp="1"/>
          </p:cNvSpPr>
          <p:nvPr>
            <p:ph sz="half" idx="13"/>
          </p:nvPr>
        </p:nvSpPr>
        <p:spPr/>
        <p:txBody>
          <a:bodyPr rtlCol="0">
            <a:normAutofit fontScale="77500" lnSpcReduction="20000"/>
          </a:bodyPr>
          <a:lstStyle/>
          <a:p>
            <a:r>
              <a:rPr lang="es-MX" dirty="0" err="1"/>
              <a:t>Cocktail</a:t>
            </a:r>
            <a:r>
              <a:rPr lang="es-MX" dirty="0"/>
              <a:t> </a:t>
            </a:r>
            <a:r>
              <a:rPr lang="es-MX" dirty="0" err="1"/>
              <a:t>Sort</a:t>
            </a:r>
            <a:r>
              <a:rPr lang="es-MX" dirty="0"/>
              <a:t> es un algoritmo adaptable. Esto significa que se beneficia de listas parcialmente ordenadas. Si la lista ya está parcialmente ordenada o casi ordenada, el algoritmo puede detectar la falta de intercambio y finalizar más rápidamente, mejorando el rendimiento en comparación con un caso en el que todos los elementos estén desordenados. Sin embargo, su mejora en eficiencia no es tan pronunciada como en otros algoritmos como </a:t>
            </a:r>
            <a:r>
              <a:rPr lang="es-MX" dirty="0" err="1"/>
              <a:t>Insertion</a:t>
            </a:r>
            <a:r>
              <a:rPr lang="es-MX" dirty="0"/>
              <a:t> </a:t>
            </a:r>
            <a:r>
              <a:rPr lang="es-MX" dirty="0" err="1"/>
              <a:t>Sort</a:t>
            </a:r>
            <a:r>
              <a:rPr lang="es-MX" dirty="0"/>
              <a:t>.</a:t>
            </a:r>
          </a:p>
          <a:p>
            <a:pPr marL="0" indent="0" rtl="0">
              <a:buNone/>
            </a:pPr>
            <a:endParaRPr lang="es-MX" dirty="0"/>
          </a:p>
          <a:p>
            <a:pPr marL="0" indent="0" rtl="0">
              <a:buNone/>
            </a:pPr>
            <a:endParaRPr lang="es-MX" dirty="0"/>
          </a:p>
          <a:p>
            <a:pPr rtl="0"/>
            <a:endParaRPr lang="es-MX" dirty="0"/>
          </a:p>
        </p:txBody>
      </p:sp>
      <p:sp>
        <p:nvSpPr>
          <p:cNvPr id="11" name="Marcador de posición de número de diapositiva 10">
            <a:extLst>
              <a:ext uri="{FF2B5EF4-FFF2-40B4-BE49-F238E27FC236}">
                <a16:creationId xmlns:a16="http://schemas.microsoft.com/office/drawing/2014/main" id="{8B50C3FA-D20D-3049-9C7F-6F37D4E022C5}"/>
              </a:ext>
            </a:extLst>
          </p:cNvPr>
          <p:cNvSpPr>
            <a:spLocks noGrp="1"/>
          </p:cNvSpPr>
          <p:nvPr>
            <p:ph type="sldNum" sz="quarter" idx="16"/>
          </p:nvPr>
        </p:nvSpPr>
        <p:spPr>
          <a:xfrm>
            <a:off x="971550" y="6332220"/>
            <a:ext cx="523240" cy="247651"/>
          </a:xfrm>
        </p:spPr>
        <p:txBody>
          <a:bodyPr rtlCol="0"/>
          <a:lstStyle/>
          <a:p>
            <a:pPr algn="l" rtl="0"/>
            <a:fld id="{294A09A9-5501-47C1-A89A-A340965A2BE2}" type="slidenum">
              <a:rPr lang="es-MX" smtClean="0"/>
              <a:pPr algn="l" rtl="0"/>
              <a:t>9</a:t>
            </a:fld>
            <a:endParaRPr lang="es-MX"/>
          </a:p>
        </p:txBody>
      </p:sp>
    </p:spTree>
    <p:extLst>
      <p:ext uri="{BB962C8B-B14F-4D97-AF65-F5344CB8AC3E}">
        <p14:creationId xmlns:p14="http://schemas.microsoft.com/office/powerpoint/2010/main" val="495483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92A64-EA42-1561-BDB1-4CA20D69AE6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5E4939-7181-3BDD-A4C5-9F307DE703A2}"/>
              </a:ext>
            </a:extLst>
          </p:cNvPr>
          <p:cNvSpPr>
            <a:spLocks noGrp="1"/>
          </p:cNvSpPr>
          <p:nvPr>
            <p:ph type="title"/>
          </p:nvPr>
        </p:nvSpPr>
        <p:spPr>
          <a:xfrm>
            <a:off x="964023" y="879063"/>
            <a:ext cx="6231907" cy="610863"/>
          </a:xfrm>
        </p:spPr>
        <p:txBody>
          <a:bodyPr rtlCol="0">
            <a:normAutofit fontScale="90000"/>
          </a:bodyPr>
          <a:lstStyle/>
          <a:p>
            <a:r>
              <a:rPr lang="es-MX" dirty="0"/>
              <a:t>4. Eficiencia del Algoritmo</a:t>
            </a:r>
          </a:p>
        </p:txBody>
      </p:sp>
      <p:sp>
        <p:nvSpPr>
          <p:cNvPr id="3" name="Marcador de posición de texto 2">
            <a:extLst>
              <a:ext uri="{FF2B5EF4-FFF2-40B4-BE49-F238E27FC236}">
                <a16:creationId xmlns:a16="http://schemas.microsoft.com/office/drawing/2014/main" id="{4EFD7962-5728-73D0-D160-FFF3B85787E8}"/>
              </a:ext>
            </a:extLst>
          </p:cNvPr>
          <p:cNvSpPr>
            <a:spLocks noGrp="1"/>
          </p:cNvSpPr>
          <p:nvPr>
            <p:ph type="body" idx="1"/>
          </p:nvPr>
        </p:nvSpPr>
        <p:spPr/>
        <p:txBody>
          <a:bodyPr rtlCol="0"/>
          <a:lstStyle/>
          <a:p>
            <a:r>
              <a:rPr lang="es-MX" dirty="0"/>
              <a:t>Complejidad Temporal:</a:t>
            </a:r>
          </a:p>
        </p:txBody>
      </p:sp>
      <p:sp>
        <p:nvSpPr>
          <p:cNvPr id="4" name="Marcador de posición de contenido 3">
            <a:extLst>
              <a:ext uri="{FF2B5EF4-FFF2-40B4-BE49-F238E27FC236}">
                <a16:creationId xmlns:a16="http://schemas.microsoft.com/office/drawing/2014/main" id="{7DFAF1C0-CD67-583B-2F9A-499DB0A123B4}"/>
              </a:ext>
            </a:extLst>
          </p:cNvPr>
          <p:cNvSpPr>
            <a:spLocks noGrp="1"/>
          </p:cNvSpPr>
          <p:nvPr>
            <p:ph sz="half" idx="2"/>
          </p:nvPr>
        </p:nvSpPr>
        <p:spPr>
          <a:xfrm>
            <a:off x="952500" y="2786445"/>
            <a:ext cx="3092375" cy="2264269"/>
          </a:xfrm>
        </p:spPr>
        <p:txBody>
          <a:bodyPr rtlCol="0">
            <a:normAutofit fontScale="92500" lnSpcReduction="10000"/>
          </a:bodyPr>
          <a:lstStyle/>
          <a:p>
            <a:r>
              <a:rPr lang="es-MX" dirty="0"/>
              <a:t>Mejor Caso (O(n)): En el mejor de los casos, cuando la lista ya está completamente ordenada, </a:t>
            </a:r>
            <a:r>
              <a:rPr lang="es-MX" dirty="0" err="1"/>
              <a:t>Cocktail</a:t>
            </a:r>
            <a:r>
              <a:rPr lang="es-MX" dirty="0"/>
              <a:t> </a:t>
            </a:r>
            <a:r>
              <a:rPr lang="es-MX" dirty="0" err="1"/>
              <a:t>Sort</a:t>
            </a:r>
            <a:r>
              <a:rPr lang="es-MX" dirty="0"/>
              <a:t> realiza una sola pasada a través de la lista sin hacer intercambios. Como se detiene cuando no hay intercambios, la complejidad temporal en este caso es O(n).</a:t>
            </a:r>
          </a:p>
          <a:p>
            <a:r>
              <a:rPr lang="es-MX" sz="1300" dirty="0"/>
              <a:t> </a:t>
            </a:r>
          </a:p>
          <a:p>
            <a:pPr marL="0" indent="0" rtl="0">
              <a:buNone/>
            </a:pPr>
            <a:endParaRPr lang="es-MX" sz="1400" dirty="0"/>
          </a:p>
          <a:p>
            <a:pPr rtl="0"/>
            <a:endParaRPr lang="es-MX" sz="1200" dirty="0"/>
          </a:p>
        </p:txBody>
      </p:sp>
      <p:sp>
        <p:nvSpPr>
          <p:cNvPr id="5" name="Marcador de posición de texto 4">
            <a:extLst>
              <a:ext uri="{FF2B5EF4-FFF2-40B4-BE49-F238E27FC236}">
                <a16:creationId xmlns:a16="http://schemas.microsoft.com/office/drawing/2014/main" id="{D83DA18C-7152-7464-7B7D-7B13B8462304}"/>
              </a:ext>
            </a:extLst>
          </p:cNvPr>
          <p:cNvSpPr>
            <a:spLocks noGrp="1"/>
          </p:cNvSpPr>
          <p:nvPr>
            <p:ph type="body" idx="10"/>
          </p:nvPr>
        </p:nvSpPr>
        <p:spPr/>
        <p:txBody>
          <a:bodyPr rtlCol="0"/>
          <a:lstStyle/>
          <a:p>
            <a:r>
              <a:rPr lang="es-MX" dirty="0"/>
              <a:t>Caso Promedio (O(n²)):</a:t>
            </a:r>
          </a:p>
        </p:txBody>
      </p:sp>
      <p:sp>
        <p:nvSpPr>
          <p:cNvPr id="6" name="Marcador de posición de contenido 5">
            <a:extLst>
              <a:ext uri="{FF2B5EF4-FFF2-40B4-BE49-F238E27FC236}">
                <a16:creationId xmlns:a16="http://schemas.microsoft.com/office/drawing/2014/main" id="{F4695813-A5C8-334A-C8CD-930B0F5B7915}"/>
              </a:ext>
            </a:extLst>
          </p:cNvPr>
          <p:cNvSpPr>
            <a:spLocks noGrp="1"/>
          </p:cNvSpPr>
          <p:nvPr>
            <p:ph sz="half" idx="11"/>
          </p:nvPr>
        </p:nvSpPr>
        <p:spPr/>
        <p:txBody>
          <a:bodyPr rtlCol="0">
            <a:normAutofit fontScale="85000" lnSpcReduction="20000"/>
          </a:bodyPr>
          <a:lstStyle/>
          <a:p>
            <a:r>
              <a:rPr lang="es-MX" dirty="0"/>
              <a:t>En el caso promedio, como en la mayoría de los algoritmos de ordenación basada en comparación, </a:t>
            </a:r>
            <a:r>
              <a:rPr lang="es-MX" dirty="0" err="1"/>
              <a:t>Cocktail</a:t>
            </a:r>
            <a:r>
              <a:rPr lang="es-MX" dirty="0"/>
              <a:t> </a:t>
            </a:r>
            <a:r>
              <a:rPr lang="es-MX" dirty="0" err="1"/>
              <a:t>Sort</a:t>
            </a:r>
            <a:r>
              <a:rPr lang="es-MX" dirty="0"/>
              <a:t> necesita hacer múltiples pasadas sobre la lista. Aunque es más eficiente que </a:t>
            </a:r>
            <a:r>
              <a:rPr lang="es-MX" dirty="0" err="1"/>
              <a:t>Bubble</a:t>
            </a:r>
            <a:r>
              <a:rPr lang="es-MX" dirty="0"/>
              <a:t> </a:t>
            </a:r>
            <a:r>
              <a:rPr lang="es-MX" dirty="0" err="1"/>
              <a:t>Sort</a:t>
            </a:r>
            <a:r>
              <a:rPr lang="es-MX" dirty="0"/>
              <a:t> debido a la doble dirección de las pasadas (de izquierda a derecha y de derecha a izquierda), la complejidad sigue siendo O(n²) en el caso promedio.</a:t>
            </a:r>
          </a:p>
        </p:txBody>
      </p:sp>
      <p:sp>
        <p:nvSpPr>
          <p:cNvPr id="7" name="Marcador de posición de texto 6">
            <a:extLst>
              <a:ext uri="{FF2B5EF4-FFF2-40B4-BE49-F238E27FC236}">
                <a16:creationId xmlns:a16="http://schemas.microsoft.com/office/drawing/2014/main" id="{388CA57E-1DF1-A87E-AB80-92326DD23331}"/>
              </a:ext>
            </a:extLst>
          </p:cNvPr>
          <p:cNvSpPr>
            <a:spLocks noGrp="1"/>
          </p:cNvSpPr>
          <p:nvPr>
            <p:ph type="body" idx="12"/>
          </p:nvPr>
        </p:nvSpPr>
        <p:spPr/>
        <p:txBody>
          <a:bodyPr rtlCol="0">
            <a:normAutofit/>
          </a:bodyPr>
          <a:lstStyle/>
          <a:p>
            <a:r>
              <a:rPr lang="es-MX" dirty="0"/>
              <a:t>Peor Caso (O(n²)): </a:t>
            </a:r>
          </a:p>
        </p:txBody>
      </p:sp>
      <p:sp>
        <p:nvSpPr>
          <p:cNvPr id="8" name="Marcador de posición de contenido 7">
            <a:extLst>
              <a:ext uri="{FF2B5EF4-FFF2-40B4-BE49-F238E27FC236}">
                <a16:creationId xmlns:a16="http://schemas.microsoft.com/office/drawing/2014/main" id="{58779C18-55D2-58C8-DA43-1DEB126B439A}"/>
              </a:ext>
            </a:extLst>
          </p:cNvPr>
          <p:cNvSpPr>
            <a:spLocks noGrp="1"/>
          </p:cNvSpPr>
          <p:nvPr>
            <p:ph sz="half" idx="13"/>
          </p:nvPr>
        </p:nvSpPr>
        <p:spPr/>
        <p:txBody>
          <a:bodyPr rtlCol="0">
            <a:normAutofit fontScale="92500" lnSpcReduction="10000"/>
          </a:bodyPr>
          <a:lstStyle/>
          <a:p>
            <a:r>
              <a:rPr lang="es-MX" dirty="0"/>
              <a:t>En el peor de los casos, cuando la lista está completamente desordenada, </a:t>
            </a:r>
            <a:r>
              <a:rPr lang="es-MX" dirty="0" err="1"/>
              <a:t>Cocktail</a:t>
            </a:r>
            <a:r>
              <a:rPr lang="es-MX" dirty="0"/>
              <a:t> </a:t>
            </a:r>
            <a:r>
              <a:rPr lang="es-MX" dirty="0" err="1"/>
              <a:t>Sort</a:t>
            </a:r>
            <a:r>
              <a:rPr lang="es-MX" dirty="0"/>
              <a:t> realiza comparaciones e intercambios en ambas direcciones (derecha-izquierda y viceversa), lo que da como resultado una complejidad O(n²), similar a la de </a:t>
            </a:r>
            <a:r>
              <a:rPr lang="es-MX" dirty="0" err="1"/>
              <a:t>Bubble</a:t>
            </a:r>
            <a:r>
              <a:rPr lang="es-MX" dirty="0"/>
              <a:t> </a:t>
            </a:r>
            <a:r>
              <a:rPr lang="es-MX" dirty="0" err="1"/>
              <a:t>Sort</a:t>
            </a:r>
            <a:r>
              <a:rPr lang="es-MX" dirty="0"/>
              <a:t>.</a:t>
            </a:r>
          </a:p>
          <a:p>
            <a:pPr marL="0" indent="0" rtl="0">
              <a:buNone/>
            </a:pPr>
            <a:endParaRPr lang="es-MX" dirty="0"/>
          </a:p>
          <a:p>
            <a:pPr marL="0" indent="0" rtl="0">
              <a:buNone/>
            </a:pPr>
            <a:endParaRPr lang="es-MX" dirty="0"/>
          </a:p>
          <a:p>
            <a:pPr rtl="0"/>
            <a:endParaRPr lang="es-MX" dirty="0"/>
          </a:p>
        </p:txBody>
      </p:sp>
      <p:sp>
        <p:nvSpPr>
          <p:cNvPr id="11" name="Marcador de posición de número de diapositiva 10">
            <a:extLst>
              <a:ext uri="{FF2B5EF4-FFF2-40B4-BE49-F238E27FC236}">
                <a16:creationId xmlns:a16="http://schemas.microsoft.com/office/drawing/2014/main" id="{2269EEF5-73FC-5EEB-2E8B-D13E912BD358}"/>
              </a:ext>
            </a:extLst>
          </p:cNvPr>
          <p:cNvSpPr>
            <a:spLocks noGrp="1"/>
          </p:cNvSpPr>
          <p:nvPr>
            <p:ph type="sldNum" sz="quarter" idx="16"/>
          </p:nvPr>
        </p:nvSpPr>
        <p:spPr>
          <a:xfrm>
            <a:off x="971550" y="6332220"/>
            <a:ext cx="523240" cy="247651"/>
          </a:xfrm>
        </p:spPr>
        <p:txBody>
          <a:bodyPr rtlCol="0"/>
          <a:lstStyle/>
          <a:p>
            <a:pPr algn="l" rtl="0"/>
            <a:fld id="{294A09A9-5501-47C1-A89A-A340965A2BE2}" type="slidenum">
              <a:rPr lang="es-MX" smtClean="0"/>
              <a:pPr algn="l" rtl="0"/>
              <a:t>10</a:t>
            </a:fld>
            <a:endParaRPr lang="es-MX"/>
          </a:p>
        </p:txBody>
      </p:sp>
      <p:sp>
        <p:nvSpPr>
          <p:cNvPr id="12" name="Marcador de posición de texto 2">
            <a:extLst>
              <a:ext uri="{FF2B5EF4-FFF2-40B4-BE49-F238E27FC236}">
                <a16:creationId xmlns:a16="http://schemas.microsoft.com/office/drawing/2014/main" id="{A9475C6E-A277-AEC5-44C3-54A331033E25}"/>
              </a:ext>
            </a:extLst>
          </p:cNvPr>
          <p:cNvSpPr txBox="1">
            <a:spLocks/>
          </p:cNvSpPr>
          <p:nvPr/>
        </p:nvSpPr>
        <p:spPr>
          <a:xfrm>
            <a:off x="2013921" y="4848606"/>
            <a:ext cx="3036477" cy="404216"/>
          </a:xfrm>
          <a:prstGeom prst="rect">
            <a:avLst/>
          </a:prstGeom>
        </p:spPr>
        <p:txBody>
          <a:bodyPr vert="horz" lIns="0" tIns="0" rIns="0" bIns="0" rtlCol="0" anchor="t" anchorCtr="0">
            <a:normAutofit/>
          </a:bodyPr>
          <a:lstStyle>
            <a:lvl1pPr marL="0" indent="0" algn="l" defTabSz="914400" rtl="0" eaLnBrk="1" latinLnBrk="0" hangingPunct="1">
              <a:lnSpc>
                <a:spcPct val="90000"/>
              </a:lnSpc>
              <a:spcBef>
                <a:spcPts val="1000"/>
              </a:spcBef>
              <a:buFont typeface="Arial" panose="020B0604020202020204" pitchFamily="34" charset="0"/>
              <a:buNone/>
              <a:defRPr lang="en-US" sz="1800" b="0" i="0" kern="1200" spc="0" baseline="0" dirty="0">
                <a:solidFill>
                  <a:schemeClr val="tx2"/>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0"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s-MX" dirty="0"/>
              <a:t>Complejidad Espacial:</a:t>
            </a:r>
          </a:p>
        </p:txBody>
      </p:sp>
      <p:sp>
        <p:nvSpPr>
          <p:cNvPr id="13" name="Marcador de posición de contenido 5">
            <a:extLst>
              <a:ext uri="{FF2B5EF4-FFF2-40B4-BE49-F238E27FC236}">
                <a16:creationId xmlns:a16="http://schemas.microsoft.com/office/drawing/2014/main" id="{9A9EC27A-5056-76EC-6262-895C3AAB908B}"/>
              </a:ext>
            </a:extLst>
          </p:cNvPr>
          <p:cNvSpPr txBox="1">
            <a:spLocks/>
          </p:cNvSpPr>
          <p:nvPr/>
        </p:nvSpPr>
        <p:spPr>
          <a:xfrm>
            <a:off x="3108125" y="5050714"/>
            <a:ext cx="7069954" cy="1942138"/>
          </a:xfrm>
          <a:prstGeom prst="rect">
            <a:avLst/>
          </a:prstGeom>
        </p:spPr>
        <p:txBody>
          <a:bodyPr vert="horz" lIns="0" tIns="0" rIns="0" bIns="0" rtlCol="0" anchor="t" anchorCtr="0">
            <a:normAutofit/>
          </a:bodyPr>
          <a:lstStyle>
            <a:lvl1pPr marL="285750" indent="-285750" algn="l" defTabSz="914400" rtl="0" eaLnBrk="1" latinLnBrk="0" hangingPunct="1">
              <a:lnSpc>
                <a:spcPct val="100000"/>
              </a:lnSpc>
              <a:spcBef>
                <a:spcPts val="1000"/>
              </a:spcBef>
              <a:buFont typeface="Wingdings" pitchFamily="2" charset="2"/>
              <a:buChar char="§"/>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dirty="0"/>
              <a:t>O(1): </a:t>
            </a:r>
            <a:r>
              <a:rPr lang="es-MX" dirty="0" err="1"/>
              <a:t>Cocktail</a:t>
            </a:r>
            <a:r>
              <a:rPr lang="es-MX" dirty="0"/>
              <a:t> </a:t>
            </a:r>
            <a:r>
              <a:rPr lang="es-MX" dirty="0" err="1"/>
              <a:t>Sort</a:t>
            </a:r>
            <a:r>
              <a:rPr lang="es-MX" dirty="0"/>
              <a:t> es un algoritmo </a:t>
            </a:r>
            <a:r>
              <a:rPr lang="es-MX" dirty="0" err="1"/>
              <a:t>in-place</a:t>
            </a:r>
            <a:r>
              <a:rPr lang="es-MX" dirty="0"/>
              <a:t>, lo que significa que no requiere espacio adicional significativo. La memoria utilizada para las variables de control y los intercambios no depende del tamaño de la entrada, lo que implica que su complejidad espacial es O(1).</a:t>
            </a:r>
          </a:p>
        </p:txBody>
      </p:sp>
    </p:spTree>
    <p:extLst>
      <p:ext uri="{BB962C8B-B14F-4D97-AF65-F5344CB8AC3E}">
        <p14:creationId xmlns:p14="http://schemas.microsoft.com/office/powerpoint/2010/main" val="1151703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C1BEC-3F54-BF13-0BA7-C4349CE45F3E}"/>
            </a:ext>
          </a:extLst>
        </p:cNvPr>
        <p:cNvGrpSpPr/>
        <p:nvPr/>
      </p:nvGrpSpPr>
      <p:grpSpPr>
        <a:xfrm>
          <a:off x="0" y="0"/>
          <a:ext cx="0" cy="0"/>
          <a:chOff x="0" y="0"/>
          <a:chExt cx="0" cy="0"/>
        </a:xfrm>
      </p:grpSpPr>
      <p:sp>
        <p:nvSpPr>
          <p:cNvPr id="7" name="Marcador de posición de número de diapositiva 6">
            <a:extLst>
              <a:ext uri="{FF2B5EF4-FFF2-40B4-BE49-F238E27FC236}">
                <a16:creationId xmlns:a16="http://schemas.microsoft.com/office/drawing/2014/main" id="{9E832B86-C922-1B43-AB15-839A06293F51}"/>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11</a:t>
            </a:fld>
            <a:endParaRPr lang="es-MX"/>
          </a:p>
        </p:txBody>
      </p:sp>
      <p:graphicFrame>
        <p:nvGraphicFramePr>
          <p:cNvPr id="11" name="Tabla 10">
            <a:extLst>
              <a:ext uri="{FF2B5EF4-FFF2-40B4-BE49-F238E27FC236}">
                <a16:creationId xmlns:a16="http://schemas.microsoft.com/office/drawing/2014/main" id="{EF4707B1-966C-64C3-8D0B-C18A0F9E40EF}"/>
              </a:ext>
            </a:extLst>
          </p:cNvPr>
          <p:cNvGraphicFramePr>
            <a:graphicFrameLocks noGrp="1"/>
          </p:cNvGraphicFramePr>
          <p:nvPr/>
        </p:nvGraphicFramePr>
        <p:xfrm>
          <a:off x="4080547" y="1381539"/>
          <a:ext cx="4164256" cy="4789040"/>
        </p:xfrm>
        <a:graphic>
          <a:graphicData uri="http://schemas.openxmlformats.org/drawingml/2006/table">
            <a:tbl>
              <a:tblPr firstRow="1" firstCol="1" bandRow="1">
                <a:tableStyleId>{5C22544A-7EE6-4342-B048-85BDC9FD1C3A}</a:tableStyleId>
              </a:tblPr>
              <a:tblGrid>
                <a:gridCol w="1041064">
                  <a:extLst>
                    <a:ext uri="{9D8B030D-6E8A-4147-A177-3AD203B41FA5}">
                      <a16:colId xmlns:a16="http://schemas.microsoft.com/office/drawing/2014/main" val="582677882"/>
                    </a:ext>
                  </a:extLst>
                </a:gridCol>
                <a:gridCol w="1041064">
                  <a:extLst>
                    <a:ext uri="{9D8B030D-6E8A-4147-A177-3AD203B41FA5}">
                      <a16:colId xmlns:a16="http://schemas.microsoft.com/office/drawing/2014/main" val="2530727740"/>
                    </a:ext>
                  </a:extLst>
                </a:gridCol>
                <a:gridCol w="1041064">
                  <a:extLst>
                    <a:ext uri="{9D8B030D-6E8A-4147-A177-3AD203B41FA5}">
                      <a16:colId xmlns:a16="http://schemas.microsoft.com/office/drawing/2014/main" val="2757249806"/>
                    </a:ext>
                  </a:extLst>
                </a:gridCol>
                <a:gridCol w="1041064">
                  <a:extLst>
                    <a:ext uri="{9D8B030D-6E8A-4147-A177-3AD203B41FA5}">
                      <a16:colId xmlns:a16="http://schemas.microsoft.com/office/drawing/2014/main" val="1422894001"/>
                    </a:ext>
                  </a:extLst>
                </a:gridCol>
              </a:tblGrid>
              <a:tr h="331943">
                <a:tc>
                  <a:txBody>
                    <a:bodyPr/>
                    <a:lstStyle/>
                    <a:p>
                      <a:pPr marL="457200" algn="ctr">
                        <a:lnSpc>
                          <a:spcPct val="107000"/>
                        </a:lnSpc>
                        <a:buNone/>
                      </a:pPr>
                      <a:r>
                        <a:rPr lang="es-MX" sz="1000" kern="100">
                          <a:effectLst/>
                        </a:rPr>
                        <a:t>Características</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Bubble Sort</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Quick Sort</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Cocktail Sort</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1292386704"/>
                  </a:ext>
                </a:extLst>
              </a:tr>
              <a:tr h="501522">
                <a:tc>
                  <a:txBody>
                    <a:bodyPr/>
                    <a:lstStyle/>
                    <a:p>
                      <a:pPr marL="457200" algn="ctr">
                        <a:lnSpc>
                          <a:spcPct val="107000"/>
                        </a:lnSpc>
                        <a:buNone/>
                      </a:pPr>
                      <a:r>
                        <a:rPr lang="es-MX" sz="1000" kern="100">
                          <a:effectLst/>
                        </a:rPr>
                        <a:t>Mejor Caso (Tiempo)</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O(n)</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O(log n)</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O(n)</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972564601"/>
                  </a:ext>
                </a:extLst>
              </a:tr>
              <a:tr h="501522">
                <a:tc>
                  <a:txBody>
                    <a:bodyPr/>
                    <a:lstStyle/>
                    <a:p>
                      <a:pPr marL="457200" algn="ctr">
                        <a:lnSpc>
                          <a:spcPct val="107000"/>
                        </a:lnSpc>
                        <a:buNone/>
                      </a:pPr>
                      <a:r>
                        <a:rPr lang="es-MX" sz="1000" kern="100">
                          <a:effectLst/>
                        </a:rPr>
                        <a:t>Caso Promedio (Tiempo)</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O(n^2)</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 </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O(n^2)</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1108291749"/>
                  </a:ext>
                </a:extLst>
              </a:tr>
              <a:tr h="501522">
                <a:tc>
                  <a:txBody>
                    <a:bodyPr/>
                    <a:lstStyle/>
                    <a:p>
                      <a:pPr marL="457200" algn="ctr">
                        <a:lnSpc>
                          <a:spcPct val="107000"/>
                        </a:lnSpc>
                        <a:buNone/>
                      </a:pPr>
                      <a:r>
                        <a:rPr lang="es-MX" sz="1000" kern="100">
                          <a:effectLst/>
                        </a:rPr>
                        <a:t>Peor Caso (Tiempo)</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O(n^2)</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O(n^2)</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O(n^2)</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657113922"/>
                  </a:ext>
                </a:extLst>
              </a:tr>
              <a:tr h="840682">
                <a:tc>
                  <a:txBody>
                    <a:bodyPr/>
                    <a:lstStyle/>
                    <a:p>
                      <a:pPr marL="457200" algn="ctr">
                        <a:lnSpc>
                          <a:spcPct val="107000"/>
                        </a:lnSpc>
                        <a:buNone/>
                      </a:pPr>
                      <a:r>
                        <a:rPr lang="es-MX" sz="1000" kern="100">
                          <a:effectLst/>
                        </a:rPr>
                        <a:t>Complejidad Espacial (Memoria adicional)</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O(1)</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O(log n)</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O(1)</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194626350"/>
                  </a:ext>
                </a:extLst>
              </a:tr>
              <a:tr h="501522">
                <a:tc>
                  <a:txBody>
                    <a:bodyPr/>
                    <a:lstStyle/>
                    <a:p>
                      <a:pPr marL="457200" algn="ctr">
                        <a:lnSpc>
                          <a:spcPct val="107000"/>
                        </a:lnSpc>
                        <a:buNone/>
                      </a:pPr>
                      <a:r>
                        <a:rPr lang="es-MX" sz="1000" kern="100">
                          <a:effectLst/>
                        </a:rPr>
                        <a:t>Estabilidad</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No (generalmente)</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4292186139"/>
                  </a:ext>
                </a:extLst>
              </a:tr>
              <a:tr h="162363">
                <a:tc>
                  <a:txBody>
                    <a:bodyPr/>
                    <a:lstStyle/>
                    <a:p>
                      <a:pPr marL="457200" algn="ctr">
                        <a:lnSpc>
                          <a:spcPct val="107000"/>
                        </a:lnSpc>
                        <a:buNone/>
                      </a:pPr>
                      <a:r>
                        <a:rPr lang="es-MX" sz="1000" kern="100">
                          <a:effectLst/>
                        </a:rPr>
                        <a:t>In-place</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3880156355"/>
                  </a:ext>
                </a:extLst>
              </a:tr>
              <a:tr h="1010262">
                <a:tc>
                  <a:txBody>
                    <a:bodyPr/>
                    <a:lstStyle/>
                    <a:p>
                      <a:pPr marL="457200" algn="ctr">
                        <a:lnSpc>
                          <a:spcPct val="107000"/>
                        </a:lnSpc>
                        <a:buNone/>
                      </a:pPr>
                      <a:r>
                        <a:rPr lang="es-MX" sz="1000" kern="100">
                          <a:effectLst/>
                        </a:rPr>
                        <a:t>Adaptabilidad (listas casi ordenadas)</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No</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dirty="0">
                          <a:effectLst/>
                        </a:rPr>
                        <a:t>Sí</a:t>
                      </a:r>
                      <a:endParaRPr lang="es-MX"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597289782"/>
                  </a:ext>
                </a:extLst>
              </a:tr>
            </a:tbl>
          </a:graphicData>
        </a:graphic>
      </p:graphicFrame>
    </p:spTree>
    <p:extLst>
      <p:ext uri="{BB962C8B-B14F-4D97-AF65-F5344CB8AC3E}">
        <p14:creationId xmlns:p14="http://schemas.microsoft.com/office/powerpoint/2010/main" val="2009594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DFA62-8279-D2DC-2885-62D5709EF638}"/>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50D7D9D6-12B9-73DF-8796-6CC408CF6F05}"/>
              </a:ext>
            </a:extLst>
          </p:cNvPr>
          <p:cNvSpPr>
            <a:spLocks noGrp="1"/>
          </p:cNvSpPr>
          <p:nvPr>
            <p:ph type="title"/>
          </p:nvPr>
        </p:nvSpPr>
        <p:spPr>
          <a:xfrm>
            <a:off x="964023" y="879063"/>
            <a:ext cx="6926711" cy="610863"/>
          </a:xfrm>
        </p:spPr>
        <p:txBody>
          <a:bodyPr rtlCol="0">
            <a:normAutofit fontScale="90000"/>
          </a:bodyPr>
          <a:lstStyle/>
          <a:p>
            <a:r>
              <a:rPr lang="es-MX" dirty="0"/>
              <a:t>5. Casos de Uso y Aplicaciones Prácticas</a:t>
            </a:r>
          </a:p>
        </p:txBody>
      </p:sp>
      <p:sp>
        <p:nvSpPr>
          <p:cNvPr id="4" name="Marcador de posición de texto 3">
            <a:extLst>
              <a:ext uri="{FF2B5EF4-FFF2-40B4-BE49-F238E27FC236}">
                <a16:creationId xmlns:a16="http://schemas.microsoft.com/office/drawing/2014/main" id="{757F450E-43F5-E88B-4B7D-FD6C985D04A4}"/>
              </a:ext>
            </a:extLst>
          </p:cNvPr>
          <p:cNvSpPr>
            <a:spLocks noGrp="1"/>
          </p:cNvSpPr>
          <p:nvPr>
            <p:ph type="body" sz="quarter" idx="11"/>
          </p:nvPr>
        </p:nvSpPr>
        <p:spPr>
          <a:xfrm>
            <a:off x="333935" y="2031384"/>
            <a:ext cx="4786705" cy="2795232"/>
          </a:xfrm>
        </p:spPr>
        <p:txBody>
          <a:bodyPr rtlCol="0"/>
          <a:lstStyle/>
          <a:p>
            <a:r>
              <a:rPr lang="es-MX" dirty="0"/>
              <a:t>¿En qué escenarios es más eficiente?</a:t>
            </a:r>
          </a:p>
          <a:p>
            <a:r>
              <a:rPr lang="es-MX" dirty="0"/>
              <a:t>El algoritmo </a:t>
            </a:r>
            <a:r>
              <a:rPr lang="es-MX" dirty="0" err="1"/>
              <a:t>Cocktail</a:t>
            </a:r>
            <a:r>
              <a:rPr lang="es-MX" dirty="0"/>
              <a:t> </a:t>
            </a:r>
            <a:r>
              <a:rPr lang="es-MX" dirty="0" err="1"/>
              <a:t>Sort</a:t>
            </a:r>
            <a:r>
              <a:rPr lang="es-MX" dirty="0"/>
              <a:t> es más eficiente que otros algoritmos como </a:t>
            </a:r>
            <a:r>
              <a:rPr lang="es-MX" dirty="0" err="1"/>
              <a:t>Bubble</a:t>
            </a:r>
            <a:r>
              <a:rPr lang="es-MX" dirty="0"/>
              <a:t> </a:t>
            </a:r>
            <a:r>
              <a:rPr lang="es-MX" dirty="0" err="1"/>
              <a:t>Sort</a:t>
            </a:r>
            <a:r>
              <a:rPr lang="es-MX" dirty="0"/>
              <a:t> en ciertos casos debido a su capacidad para recorrer la lista en dos direcciones. Sin embargo, sigue siendo menos eficiente que algoritmos como Quick </a:t>
            </a:r>
            <a:r>
              <a:rPr lang="es-MX" dirty="0" err="1"/>
              <a:t>Sort</a:t>
            </a:r>
            <a:r>
              <a:rPr lang="es-MX" dirty="0"/>
              <a:t> o </a:t>
            </a:r>
            <a:r>
              <a:rPr lang="es-MX" dirty="0" err="1"/>
              <a:t>Merge</a:t>
            </a:r>
            <a:r>
              <a:rPr lang="es-MX" dirty="0"/>
              <a:t> </a:t>
            </a:r>
            <a:r>
              <a:rPr lang="es-MX" dirty="0" err="1"/>
              <a:t>Sort</a:t>
            </a:r>
            <a:r>
              <a:rPr lang="es-MX" dirty="0"/>
              <a:t> para listas grandes debido a su complejidad de O(n²) en el caso promedio y peor.</a:t>
            </a:r>
          </a:p>
          <a:p>
            <a:r>
              <a:rPr lang="es-MX" dirty="0"/>
              <a:t> </a:t>
            </a:r>
          </a:p>
          <a:p>
            <a:r>
              <a:rPr lang="es-MX" dirty="0" err="1"/>
              <a:t>Cocktail</a:t>
            </a:r>
            <a:r>
              <a:rPr lang="es-MX" dirty="0"/>
              <a:t> </a:t>
            </a:r>
            <a:r>
              <a:rPr lang="es-MX" dirty="0" err="1"/>
              <a:t>Sort</a:t>
            </a:r>
            <a:r>
              <a:rPr lang="es-MX" dirty="0"/>
              <a:t> es más eficiente en los siguientes escenarios:</a:t>
            </a:r>
          </a:p>
          <a:p>
            <a:r>
              <a:rPr lang="es-MX" dirty="0"/>
              <a:t> </a:t>
            </a:r>
          </a:p>
          <a:p>
            <a:endParaRPr lang="es-MX" sz="1200" dirty="0"/>
          </a:p>
        </p:txBody>
      </p:sp>
      <p:sp>
        <p:nvSpPr>
          <p:cNvPr id="7" name="Marcador de posición de número de diapositiva 6">
            <a:extLst>
              <a:ext uri="{FF2B5EF4-FFF2-40B4-BE49-F238E27FC236}">
                <a16:creationId xmlns:a16="http://schemas.microsoft.com/office/drawing/2014/main" id="{2996E2C3-C0BC-9C8F-CBCD-E0775A1EDBB8}"/>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12</a:t>
            </a:fld>
            <a:endParaRPr lang="es-MX"/>
          </a:p>
        </p:txBody>
      </p:sp>
      <p:sp>
        <p:nvSpPr>
          <p:cNvPr id="6" name="Marcador de posición de texto 3">
            <a:extLst>
              <a:ext uri="{FF2B5EF4-FFF2-40B4-BE49-F238E27FC236}">
                <a16:creationId xmlns:a16="http://schemas.microsoft.com/office/drawing/2014/main" id="{B22B8C3E-2692-07D9-6470-D3DA7D8D1C31}"/>
              </a:ext>
            </a:extLst>
          </p:cNvPr>
          <p:cNvSpPr txBox="1">
            <a:spLocks/>
          </p:cNvSpPr>
          <p:nvPr/>
        </p:nvSpPr>
        <p:spPr>
          <a:xfrm>
            <a:off x="5633869" y="2031384"/>
            <a:ext cx="4786705" cy="279523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400" dirty="0"/>
              <a:t>Listas parcialmente ordenadas: Si tienes una lista que ya está casi ordenada, </a:t>
            </a:r>
            <a:r>
              <a:rPr lang="es-MX" sz="1400" dirty="0" err="1"/>
              <a:t>Cocktail</a:t>
            </a:r>
            <a:r>
              <a:rPr lang="es-MX" sz="1400" dirty="0"/>
              <a:t> </a:t>
            </a:r>
            <a:r>
              <a:rPr lang="es-MX" sz="1400" dirty="0" err="1"/>
              <a:t>Sort</a:t>
            </a:r>
            <a:r>
              <a:rPr lang="es-MX" sz="1400" dirty="0"/>
              <a:t> puede aprovechar su adaptabilidad. Esto lo hace más rápido en comparación con algoritmos como </a:t>
            </a:r>
            <a:r>
              <a:rPr lang="es-MX" sz="1400" dirty="0" err="1"/>
              <a:t>Bubble</a:t>
            </a:r>
            <a:r>
              <a:rPr lang="es-MX" sz="1400" dirty="0"/>
              <a:t> </a:t>
            </a:r>
            <a:r>
              <a:rPr lang="es-MX" sz="1400" dirty="0" err="1"/>
              <a:t>Sort</a:t>
            </a:r>
            <a:r>
              <a:rPr lang="es-MX" sz="1400" dirty="0"/>
              <a:t>, que no tienen esa ventaja.</a:t>
            </a:r>
          </a:p>
          <a:p>
            <a:r>
              <a:rPr lang="es-MX" sz="1400" dirty="0"/>
              <a:t> </a:t>
            </a:r>
          </a:p>
          <a:p>
            <a:r>
              <a:rPr lang="es-MX" sz="1400" dirty="0"/>
              <a:t>Listas pequeñas: En listas con un número pequeño de elementos, los algoritmos como </a:t>
            </a:r>
            <a:r>
              <a:rPr lang="es-MX" sz="1400" dirty="0" err="1"/>
              <a:t>Cocktail</a:t>
            </a:r>
            <a:r>
              <a:rPr lang="es-MX" sz="1400" dirty="0"/>
              <a:t> </a:t>
            </a:r>
            <a:r>
              <a:rPr lang="es-MX" sz="1400" dirty="0" err="1"/>
              <a:t>Sort</a:t>
            </a:r>
            <a:r>
              <a:rPr lang="es-MX" sz="1400" dirty="0"/>
              <a:t>, </a:t>
            </a:r>
            <a:r>
              <a:rPr lang="es-MX" sz="1400" dirty="0" err="1"/>
              <a:t>Bubble</a:t>
            </a:r>
            <a:r>
              <a:rPr lang="es-MX" sz="1400" dirty="0"/>
              <a:t> </a:t>
            </a:r>
            <a:r>
              <a:rPr lang="es-MX" sz="1400" dirty="0" err="1"/>
              <a:t>Sort</a:t>
            </a:r>
            <a:r>
              <a:rPr lang="es-MX" sz="1400" dirty="0"/>
              <a:t>, o </a:t>
            </a:r>
            <a:r>
              <a:rPr lang="es-MX" sz="1400" dirty="0" err="1"/>
              <a:t>Insertion</a:t>
            </a:r>
            <a:r>
              <a:rPr lang="es-MX" sz="1400" dirty="0"/>
              <a:t> </a:t>
            </a:r>
            <a:r>
              <a:rPr lang="es-MX" sz="1400" dirty="0" err="1"/>
              <a:t>Sort</a:t>
            </a:r>
            <a:r>
              <a:rPr lang="es-MX" sz="1400" dirty="0"/>
              <a:t> pueden ser más sencillos y rápidos de implementar debido a su baja sobrecarga.</a:t>
            </a:r>
          </a:p>
          <a:p>
            <a:r>
              <a:rPr lang="es-MX" sz="1400" dirty="0"/>
              <a:t> </a:t>
            </a:r>
          </a:p>
          <a:p>
            <a:r>
              <a:rPr lang="es-MX" sz="1400" dirty="0"/>
              <a:t>Aplicaciones educativas y demostrativas: </a:t>
            </a:r>
            <a:r>
              <a:rPr lang="es-MX" sz="1400" dirty="0" err="1"/>
              <a:t>Cocktail</a:t>
            </a:r>
            <a:r>
              <a:rPr lang="es-MX" sz="1400" dirty="0"/>
              <a:t> </a:t>
            </a:r>
            <a:r>
              <a:rPr lang="es-MX" sz="1400" dirty="0" err="1"/>
              <a:t>Sort</a:t>
            </a:r>
            <a:r>
              <a:rPr lang="es-MX" sz="1400" dirty="0"/>
              <a:t> es muy útil como ejemplo de algoritmos de ordenamiento para enseñar sobre conceptos básicos de ordenación, estabilidad y algoritmos comparativos.</a:t>
            </a:r>
          </a:p>
          <a:p>
            <a:endParaRPr lang="es-MX" sz="1400" dirty="0"/>
          </a:p>
        </p:txBody>
      </p:sp>
    </p:spTree>
    <p:extLst>
      <p:ext uri="{BB962C8B-B14F-4D97-AF65-F5344CB8AC3E}">
        <p14:creationId xmlns:p14="http://schemas.microsoft.com/office/powerpoint/2010/main" val="2304052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A879C-DBAB-CA0B-B22E-1E8B3A54EC54}"/>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CB144641-A4F0-5933-9D9F-89CCC21880FB}"/>
              </a:ext>
            </a:extLst>
          </p:cNvPr>
          <p:cNvSpPr>
            <a:spLocks noGrp="1"/>
          </p:cNvSpPr>
          <p:nvPr>
            <p:ph type="title"/>
          </p:nvPr>
        </p:nvSpPr>
        <p:spPr>
          <a:xfrm>
            <a:off x="964023" y="879063"/>
            <a:ext cx="6926711" cy="610863"/>
          </a:xfrm>
        </p:spPr>
        <p:txBody>
          <a:bodyPr rtlCol="0">
            <a:normAutofit fontScale="90000"/>
          </a:bodyPr>
          <a:lstStyle/>
          <a:p>
            <a:r>
              <a:rPr lang="es-MX" dirty="0"/>
              <a:t>5. Casos de Uso y Aplicaciones Prácticas</a:t>
            </a:r>
          </a:p>
        </p:txBody>
      </p:sp>
      <p:sp>
        <p:nvSpPr>
          <p:cNvPr id="4" name="Marcador de posición de texto 3">
            <a:extLst>
              <a:ext uri="{FF2B5EF4-FFF2-40B4-BE49-F238E27FC236}">
                <a16:creationId xmlns:a16="http://schemas.microsoft.com/office/drawing/2014/main" id="{AFF2B3FE-43E9-2356-149C-41B4094149A1}"/>
              </a:ext>
            </a:extLst>
          </p:cNvPr>
          <p:cNvSpPr>
            <a:spLocks noGrp="1"/>
          </p:cNvSpPr>
          <p:nvPr>
            <p:ph type="body" sz="quarter" idx="11"/>
          </p:nvPr>
        </p:nvSpPr>
        <p:spPr>
          <a:xfrm>
            <a:off x="333935" y="2031384"/>
            <a:ext cx="4786705" cy="2795232"/>
          </a:xfrm>
        </p:spPr>
        <p:txBody>
          <a:bodyPr rtlCol="0"/>
          <a:lstStyle/>
          <a:p>
            <a:r>
              <a:rPr lang="es-MX" dirty="0"/>
              <a:t>Ejemplos reales de aplicaciones:</a:t>
            </a:r>
          </a:p>
          <a:p>
            <a:r>
              <a:rPr lang="es-MX" dirty="0"/>
              <a:t>Bases de Datos Pequeñas o Listas Internas:</a:t>
            </a:r>
          </a:p>
          <a:p>
            <a:r>
              <a:rPr lang="es-MX" dirty="0"/>
              <a:t> </a:t>
            </a:r>
          </a:p>
          <a:p>
            <a:r>
              <a:rPr lang="es-MX" dirty="0" err="1"/>
              <a:t>Cocktail</a:t>
            </a:r>
            <a:r>
              <a:rPr lang="es-MX" dirty="0"/>
              <a:t> </a:t>
            </a:r>
            <a:r>
              <a:rPr lang="es-MX" dirty="0" err="1"/>
              <a:t>Sort</a:t>
            </a:r>
            <a:r>
              <a:rPr lang="es-MX" dirty="0"/>
              <a:t> puede ser útil en bases de datos pequeñas o cuando se ordenan listas que no requieren un rendimiento de alto nivel (por ejemplo, listas de resultados de búsquedas previas). En estos casos, el algoritmo puede ser eficiente porque la lista ya está parcialmente ordenada o los datos a ordenar no son de gran volumen.</a:t>
            </a:r>
          </a:p>
          <a:p>
            <a:r>
              <a:rPr lang="es-MX" dirty="0"/>
              <a:t> </a:t>
            </a:r>
          </a:p>
          <a:p>
            <a:endParaRPr lang="es-MX" sz="1200" dirty="0"/>
          </a:p>
        </p:txBody>
      </p:sp>
      <p:sp>
        <p:nvSpPr>
          <p:cNvPr id="7" name="Marcador de posición de número de diapositiva 6">
            <a:extLst>
              <a:ext uri="{FF2B5EF4-FFF2-40B4-BE49-F238E27FC236}">
                <a16:creationId xmlns:a16="http://schemas.microsoft.com/office/drawing/2014/main" id="{7E754644-5122-70E4-E572-2DCEEC0D48D7}"/>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13</a:t>
            </a:fld>
            <a:endParaRPr lang="es-MX"/>
          </a:p>
        </p:txBody>
      </p:sp>
      <p:sp>
        <p:nvSpPr>
          <p:cNvPr id="6" name="Marcador de posición de texto 3">
            <a:extLst>
              <a:ext uri="{FF2B5EF4-FFF2-40B4-BE49-F238E27FC236}">
                <a16:creationId xmlns:a16="http://schemas.microsoft.com/office/drawing/2014/main" id="{A0F1572E-C6D2-7FAE-2ADC-BE35883E4734}"/>
              </a:ext>
            </a:extLst>
          </p:cNvPr>
          <p:cNvSpPr txBox="1">
            <a:spLocks/>
          </p:cNvSpPr>
          <p:nvPr/>
        </p:nvSpPr>
        <p:spPr>
          <a:xfrm>
            <a:off x="5633869" y="2031384"/>
            <a:ext cx="4786705" cy="279523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400" dirty="0"/>
              <a:t>Renderización de Gráficos o Juegos Simples:</a:t>
            </a:r>
          </a:p>
          <a:p>
            <a:r>
              <a:rPr lang="es-MX" sz="1400" dirty="0"/>
              <a:t> </a:t>
            </a:r>
          </a:p>
          <a:p>
            <a:r>
              <a:rPr lang="es-MX" sz="1400" dirty="0"/>
              <a:t>En ciertas aplicaciones gráficas o de simulación donde los datos a ordenar son relativamente pequeños y el orden de los objetos es poco complejo, </a:t>
            </a:r>
            <a:r>
              <a:rPr lang="es-MX" sz="1400" dirty="0" err="1"/>
              <a:t>Cocktail</a:t>
            </a:r>
            <a:r>
              <a:rPr lang="es-MX" sz="1400" dirty="0"/>
              <a:t> </a:t>
            </a:r>
            <a:r>
              <a:rPr lang="es-MX" sz="1400" dirty="0" err="1"/>
              <a:t>Sort</a:t>
            </a:r>
            <a:r>
              <a:rPr lang="es-MX" sz="1400" dirty="0"/>
              <a:t> puede ser útil si las listas no están completamente desordenadas.</a:t>
            </a:r>
          </a:p>
          <a:p>
            <a:r>
              <a:rPr lang="es-MX" sz="1400" dirty="0"/>
              <a:t> </a:t>
            </a:r>
          </a:p>
          <a:p>
            <a:r>
              <a:rPr lang="es-MX" sz="1400" dirty="0"/>
              <a:t>Aplicaciones con limitaciones de espacio:</a:t>
            </a:r>
          </a:p>
          <a:p>
            <a:r>
              <a:rPr lang="es-MX" sz="1400" dirty="0"/>
              <a:t> </a:t>
            </a:r>
          </a:p>
          <a:p>
            <a:r>
              <a:rPr lang="es-MX" sz="1400" dirty="0"/>
              <a:t>Dado que </a:t>
            </a:r>
            <a:r>
              <a:rPr lang="es-MX" sz="1400" dirty="0" err="1"/>
              <a:t>Cocktail</a:t>
            </a:r>
            <a:r>
              <a:rPr lang="es-MX" sz="1400" dirty="0"/>
              <a:t> </a:t>
            </a:r>
            <a:r>
              <a:rPr lang="es-MX" sz="1400" dirty="0" err="1"/>
              <a:t>Sort</a:t>
            </a:r>
            <a:r>
              <a:rPr lang="es-MX" sz="1400" dirty="0"/>
              <a:t> es </a:t>
            </a:r>
            <a:r>
              <a:rPr lang="es-MX" sz="1400" dirty="0" err="1"/>
              <a:t>in-place</a:t>
            </a:r>
            <a:r>
              <a:rPr lang="es-MX" sz="1400" dirty="0"/>
              <a:t> y no necesita espacio adicional más allá de las variables de control, puede ser útil en entornos con limitaciones de memoria o cuando no es posible usar recursión (como en sistemas embebidos).</a:t>
            </a:r>
          </a:p>
          <a:p>
            <a:endParaRPr lang="es-MX" sz="1400" dirty="0"/>
          </a:p>
        </p:txBody>
      </p:sp>
    </p:spTree>
    <p:extLst>
      <p:ext uri="{BB962C8B-B14F-4D97-AF65-F5344CB8AC3E}">
        <p14:creationId xmlns:p14="http://schemas.microsoft.com/office/powerpoint/2010/main" val="482242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8EF16-830C-0379-9FDA-21CB8722FDE1}"/>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0EB0B45C-B255-4309-0B9E-EC1FB7FCFA3C}"/>
              </a:ext>
            </a:extLst>
          </p:cNvPr>
          <p:cNvSpPr>
            <a:spLocks noGrp="1"/>
          </p:cNvSpPr>
          <p:nvPr>
            <p:ph type="title"/>
          </p:nvPr>
        </p:nvSpPr>
        <p:spPr>
          <a:xfrm>
            <a:off x="964023" y="879063"/>
            <a:ext cx="6926711" cy="610863"/>
          </a:xfrm>
        </p:spPr>
        <p:txBody>
          <a:bodyPr rtlCol="0">
            <a:normAutofit/>
          </a:bodyPr>
          <a:lstStyle/>
          <a:p>
            <a:r>
              <a:rPr lang="es-MX" dirty="0"/>
              <a:t>7. Conclusiones</a:t>
            </a:r>
          </a:p>
        </p:txBody>
      </p:sp>
      <p:sp>
        <p:nvSpPr>
          <p:cNvPr id="4" name="Marcador de posición de texto 3">
            <a:extLst>
              <a:ext uri="{FF2B5EF4-FFF2-40B4-BE49-F238E27FC236}">
                <a16:creationId xmlns:a16="http://schemas.microsoft.com/office/drawing/2014/main" id="{A16428EC-A9B1-E43B-931D-2FE7069F0417}"/>
              </a:ext>
            </a:extLst>
          </p:cNvPr>
          <p:cNvSpPr>
            <a:spLocks noGrp="1"/>
          </p:cNvSpPr>
          <p:nvPr>
            <p:ph type="body" sz="quarter" idx="11"/>
          </p:nvPr>
        </p:nvSpPr>
        <p:spPr>
          <a:xfrm>
            <a:off x="333935" y="2031384"/>
            <a:ext cx="4786705" cy="2795232"/>
          </a:xfrm>
        </p:spPr>
        <p:txBody>
          <a:bodyPr rtlCol="0"/>
          <a:lstStyle/>
          <a:p>
            <a:r>
              <a:rPr lang="es-MX" sz="1400" dirty="0"/>
              <a:t>Ventajas:</a:t>
            </a:r>
          </a:p>
          <a:p>
            <a:r>
              <a:rPr lang="es-MX" sz="1400" dirty="0"/>
              <a:t> </a:t>
            </a:r>
          </a:p>
          <a:p>
            <a:pPr lvl="0"/>
            <a:r>
              <a:rPr lang="es-MX" sz="1400" dirty="0"/>
              <a:t>Simplicidad: </a:t>
            </a:r>
            <a:r>
              <a:rPr lang="es-MX" sz="1400" dirty="0" err="1"/>
              <a:t>Cocktail</a:t>
            </a:r>
            <a:r>
              <a:rPr lang="es-MX" sz="1400" dirty="0"/>
              <a:t> </a:t>
            </a:r>
            <a:r>
              <a:rPr lang="es-MX" sz="1400" dirty="0" err="1"/>
              <a:t>Sort</a:t>
            </a:r>
            <a:r>
              <a:rPr lang="es-MX" sz="1400" dirty="0"/>
              <a:t> es fácil de entender y de implementar. Es una mejora directa de </a:t>
            </a:r>
            <a:r>
              <a:rPr lang="es-MX" sz="1400" dirty="0" err="1"/>
              <a:t>Bubble</a:t>
            </a:r>
            <a:r>
              <a:rPr lang="es-MX" sz="1400" dirty="0"/>
              <a:t> </a:t>
            </a:r>
            <a:r>
              <a:rPr lang="es-MX" sz="1400" dirty="0" err="1"/>
              <a:t>Sort</a:t>
            </a:r>
            <a:r>
              <a:rPr lang="es-MX" sz="1400" dirty="0"/>
              <a:t>, aprovechando la doble dirección para recorrer la lista.</a:t>
            </a:r>
          </a:p>
          <a:p>
            <a:r>
              <a:rPr lang="es-MX" sz="1400" dirty="0"/>
              <a:t> </a:t>
            </a:r>
          </a:p>
          <a:p>
            <a:pPr lvl="0"/>
            <a:r>
              <a:rPr lang="es-MX" sz="1400" dirty="0"/>
              <a:t>Estabilidad: Mantiene el orden relativo de los elementos iguales, lo que es crucial en situaciones donde el orden de los elementos con el mismo valor importa (por ejemplo, cuando se ordenan objetos por múltiples claves).</a:t>
            </a:r>
          </a:p>
          <a:p>
            <a:r>
              <a:rPr lang="es-MX" sz="1400" dirty="0"/>
              <a:t> </a:t>
            </a:r>
          </a:p>
          <a:p>
            <a:pPr lvl="0"/>
            <a:r>
              <a:rPr lang="es-MX" sz="1400" dirty="0"/>
              <a:t>Adaptabilidad: Funciona bien con listas parcialmente ordenadas, lo que lo hace eficiente en escenarios donde los datos no están completamente desordenados.</a:t>
            </a:r>
          </a:p>
          <a:p>
            <a:r>
              <a:rPr lang="es-MX" sz="1400" dirty="0"/>
              <a:t> </a:t>
            </a:r>
          </a:p>
          <a:p>
            <a:endParaRPr lang="es-MX" sz="1100" dirty="0"/>
          </a:p>
        </p:txBody>
      </p:sp>
      <p:sp>
        <p:nvSpPr>
          <p:cNvPr id="7" name="Marcador de posición de número de diapositiva 6">
            <a:extLst>
              <a:ext uri="{FF2B5EF4-FFF2-40B4-BE49-F238E27FC236}">
                <a16:creationId xmlns:a16="http://schemas.microsoft.com/office/drawing/2014/main" id="{A211923D-F4C9-7953-ECDD-089C69F2942C}"/>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14</a:t>
            </a:fld>
            <a:endParaRPr lang="es-MX"/>
          </a:p>
        </p:txBody>
      </p:sp>
      <p:sp>
        <p:nvSpPr>
          <p:cNvPr id="6" name="Marcador de posición de texto 3">
            <a:extLst>
              <a:ext uri="{FF2B5EF4-FFF2-40B4-BE49-F238E27FC236}">
                <a16:creationId xmlns:a16="http://schemas.microsoft.com/office/drawing/2014/main" id="{787EC285-DE2D-8379-B400-CD86D523C02C}"/>
              </a:ext>
            </a:extLst>
          </p:cNvPr>
          <p:cNvSpPr txBox="1">
            <a:spLocks/>
          </p:cNvSpPr>
          <p:nvPr/>
        </p:nvSpPr>
        <p:spPr>
          <a:xfrm>
            <a:off x="5633869" y="2031384"/>
            <a:ext cx="4786705" cy="279523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400" dirty="0"/>
              <a:t>Desventajas:</a:t>
            </a:r>
          </a:p>
          <a:p>
            <a:r>
              <a:rPr lang="es-MX" sz="1400" dirty="0"/>
              <a:t> </a:t>
            </a:r>
          </a:p>
          <a:p>
            <a:pPr lvl="0"/>
            <a:r>
              <a:rPr lang="es-MX" sz="1400" dirty="0"/>
              <a:t>Ineficiencia en listas grandes: Aunque es una mejora sobre </a:t>
            </a:r>
            <a:r>
              <a:rPr lang="es-MX" sz="1400" dirty="0" err="1"/>
              <a:t>Bubble</a:t>
            </a:r>
            <a:r>
              <a:rPr lang="es-MX" sz="1400" dirty="0"/>
              <a:t> </a:t>
            </a:r>
            <a:r>
              <a:rPr lang="es-MX" sz="1400" dirty="0" err="1"/>
              <a:t>Sort</a:t>
            </a:r>
            <a:r>
              <a:rPr lang="es-MX" sz="1400" dirty="0"/>
              <a:t>, sigue teniendo una complejidad temporal de O(n²) en el caso promedio y peor, lo que lo hace poco adecuado para listas grandes o cuando el rendimiento es crítico.</a:t>
            </a:r>
          </a:p>
          <a:p>
            <a:r>
              <a:rPr lang="es-MX" sz="1400" dirty="0"/>
              <a:t> </a:t>
            </a:r>
          </a:p>
          <a:p>
            <a:pPr lvl="0"/>
            <a:r>
              <a:rPr lang="es-MX" sz="1400" dirty="0"/>
              <a:t>No es adecuado para grandes volúmenes de datos: A diferencia de algoritmos como Quick </a:t>
            </a:r>
            <a:r>
              <a:rPr lang="es-MX" sz="1400" dirty="0" err="1"/>
              <a:t>Sort</a:t>
            </a:r>
            <a:r>
              <a:rPr lang="es-MX" sz="1400" dirty="0"/>
              <a:t> o </a:t>
            </a:r>
            <a:r>
              <a:rPr lang="es-MX" sz="1400" dirty="0" err="1"/>
              <a:t>Merge</a:t>
            </a:r>
            <a:r>
              <a:rPr lang="es-MX" sz="1400" dirty="0"/>
              <a:t> </a:t>
            </a:r>
            <a:r>
              <a:rPr lang="es-MX" sz="1400" dirty="0" err="1"/>
              <a:t>Sort</a:t>
            </a:r>
            <a:r>
              <a:rPr lang="es-MX" sz="1400" dirty="0"/>
              <a:t>, </a:t>
            </a:r>
            <a:r>
              <a:rPr lang="es-MX" sz="1400" dirty="0" err="1"/>
              <a:t>Cocktail</a:t>
            </a:r>
            <a:r>
              <a:rPr lang="es-MX" sz="1400" dirty="0"/>
              <a:t> </a:t>
            </a:r>
            <a:r>
              <a:rPr lang="es-MX" sz="1400" dirty="0" err="1"/>
              <a:t>Sort</a:t>
            </a:r>
            <a:r>
              <a:rPr lang="es-MX" sz="1400" dirty="0"/>
              <a:t> no es eficiente para manejar grandes cantidades de datos, especialmente cuando se compara con algoritmos con complejidad O(n log n).</a:t>
            </a:r>
          </a:p>
          <a:p>
            <a:endParaRPr lang="es-MX" sz="1200" dirty="0"/>
          </a:p>
        </p:txBody>
      </p:sp>
    </p:spTree>
    <p:extLst>
      <p:ext uri="{BB962C8B-B14F-4D97-AF65-F5344CB8AC3E}">
        <p14:creationId xmlns:p14="http://schemas.microsoft.com/office/powerpoint/2010/main" val="2263856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38B91-6E3A-316C-7FA0-79AEC598B71B}"/>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56EE5942-A4AA-DA04-916F-C622D2E284AC}"/>
              </a:ext>
            </a:extLst>
          </p:cNvPr>
          <p:cNvSpPr>
            <a:spLocks noGrp="1"/>
          </p:cNvSpPr>
          <p:nvPr>
            <p:ph type="title"/>
          </p:nvPr>
        </p:nvSpPr>
        <p:spPr>
          <a:xfrm>
            <a:off x="964023" y="879063"/>
            <a:ext cx="6926711" cy="610863"/>
          </a:xfrm>
        </p:spPr>
        <p:txBody>
          <a:bodyPr rtlCol="0">
            <a:normAutofit/>
          </a:bodyPr>
          <a:lstStyle/>
          <a:p>
            <a:r>
              <a:rPr lang="es-MX" dirty="0"/>
              <a:t>7. Conclusiones</a:t>
            </a:r>
          </a:p>
        </p:txBody>
      </p:sp>
      <p:sp>
        <p:nvSpPr>
          <p:cNvPr id="4" name="Marcador de posición de texto 3">
            <a:extLst>
              <a:ext uri="{FF2B5EF4-FFF2-40B4-BE49-F238E27FC236}">
                <a16:creationId xmlns:a16="http://schemas.microsoft.com/office/drawing/2014/main" id="{AC047573-153C-6552-2276-422E319E4B00}"/>
              </a:ext>
            </a:extLst>
          </p:cNvPr>
          <p:cNvSpPr>
            <a:spLocks noGrp="1"/>
          </p:cNvSpPr>
          <p:nvPr>
            <p:ph type="body" sz="quarter" idx="11"/>
          </p:nvPr>
        </p:nvSpPr>
        <p:spPr>
          <a:xfrm>
            <a:off x="333935" y="2031384"/>
            <a:ext cx="4786705" cy="2795232"/>
          </a:xfrm>
        </p:spPr>
        <p:txBody>
          <a:bodyPr rtlCol="0"/>
          <a:lstStyle/>
          <a:p>
            <a:r>
              <a:rPr lang="es-MX" sz="1400" dirty="0"/>
              <a:t>Recomendaciones de cuándo usarlo:</a:t>
            </a:r>
          </a:p>
          <a:p>
            <a:pPr lvl="0"/>
            <a:r>
              <a:rPr lang="es-MX" sz="1400" dirty="0"/>
              <a:t>Listas pequeñas o medianas: </a:t>
            </a:r>
            <a:r>
              <a:rPr lang="es-MX" sz="1400" dirty="0" err="1"/>
              <a:t>Cocktail</a:t>
            </a:r>
            <a:r>
              <a:rPr lang="es-MX" sz="1400" dirty="0"/>
              <a:t> </a:t>
            </a:r>
            <a:r>
              <a:rPr lang="es-MX" sz="1400" dirty="0" err="1"/>
              <a:t>Sort</a:t>
            </a:r>
            <a:r>
              <a:rPr lang="es-MX" sz="1400" dirty="0"/>
              <a:t> es ideal para listas que no son grandes y cuando la simplicidad y la facilidad de implementación son más importantes que la eficiencia a gran escala.</a:t>
            </a:r>
          </a:p>
          <a:p>
            <a:r>
              <a:rPr lang="es-MX" sz="1400" dirty="0"/>
              <a:t> </a:t>
            </a:r>
          </a:p>
          <a:p>
            <a:pPr lvl="0"/>
            <a:r>
              <a:rPr lang="es-MX" sz="1400" dirty="0"/>
              <a:t>Listas parcialmente ordenadas: Si tienes listas que ya están casi ordenadas, </a:t>
            </a:r>
            <a:r>
              <a:rPr lang="es-MX" sz="1400" dirty="0" err="1"/>
              <a:t>Cocktail</a:t>
            </a:r>
            <a:r>
              <a:rPr lang="es-MX" sz="1400" dirty="0"/>
              <a:t> </a:t>
            </a:r>
            <a:r>
              <a:rPr lang="es-MX" sz="1400" dirty="0" err="1"/>
              <a:t>Sort</a:t>
            </a:r>
            <a:r>
              <a:rPr lang="es-MX" sz="1400" dirty="0"/>
              <a:t> puede ofrecer una mejora en tiempo debido a su capacidad de detectar que no se necesitan más intercambios rápidamente.</a:t>
            </a:r>
          </a:p>
          <a:p>
            <a:r>
              <a:rPr lang="es-MX" sz="1400" dirty="0"/>
              <a:t> </a:t>
            </a:r>
          </a:p>
          <a:p>
            <a:endParaRPr lang="es-MX" sz="1400" dirty="0"/>
          </a:p>
        </p:txBody>
      </p:sp>
      <p:sp>
        <p:nvSpPr>
          <p:cNvPr id="7" name="Marcador de posición de número de diapositiva 6">
            <a:extLst>
              <a:ext uri="{FF2B5EF4-FFF2-40B4-BE49-F238E27FC236}">
                <a16:creationId xmlns:a16="http://schemas.microsoft.com/office/drawing/2014/main" id="{FB680D57-FF2B-09E2-7B55-C4B42A6904A5}"/>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15</a:t>
            </a:fld>
            <a:endParaRPr lang="es-MX"/>
          </a:p>
        </p:txBody>
      </p:sp>
      <p:sp>
        <p:nvSpPr>
          <p:cNvPr id="6" name="Marcador de posición de texto 3">
            <a:extLst>
              <a:ext uri="{FF2B5EF4-FFF2-40B4-BE49-F238E27FC236}">
                <a16:creationId xmlns:a16="http://schemas.microsoft.com/office/drawing/2014/main" id="{55E1EA69-5D18-99A4-0D98-E7312C0136FC}"/>
              </a:ext>
            </a:extLst>
          </p:cNvPr>
          <p:cNvSpPr txBox="1">
            <a:spLocks/>
          </p:cNvSpPr>
          <p:nvPr/>
        </p:nvSpPr>
        <p:spPr>
          <a:xfrm>
            <a:off x="5633869" y="2031384"/>
            <a:ext cx="4786705" cy="279523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s-MX" sz="1400" dirty="0"/>
              <a:t>Entornos con memoria limitada: Si el sistema no permite el uso de memoria adicional (como en sistemas embebidos o aplicaciones con limitación de recursos), </a:t>
            </a:r>
            <a:r>
              <a:rPr lang="es-MX" sz="1400" dirty="0" err="1"/>
              <a:t>Cocktail</a:t>
            </a:r>
            <a:r>
              <a:rPr lang="es-MX" sz="1400" dirty="0"/>
              <a:t> </a:t>
            </a:r>
            <a:r>
              <a:rPr lang="es-MX" sz="1400" dirty="0" err="1"/>
              <a:t>Sort</a:t>
            </a:r>
            <a:r>
              <a:rPr lang="es-MX" sz="1400" dirty="0"/>
              <a:t> puede ser una opción viable por su uso de O(1) espacio adicional.</a:t>
            </a:r>
          </a:p>
          <a:p>
            <a:r>
              <a:rPr lang="es-MX" sz="1400" dirty="0"/>
              <a:t> </a:t>
            </a:r>
          </a:p>
          <a:p>
            <a:pPr lvl="0"/>
            <a:r>
              <a:rPr lang="es-MX" sz="1400" dirty="0"/>
              <a:t>Aplicaciones educativas: </a:t>
            </a:r>
            <a:r>
              <a:rPr lang="es-MX" sz="1400" dirty="0" err="1"/>
              <a:t>Cocktail</a:t>
            </a:r>
            <a:r>
              <a:rPr lang="es-MX" sz="1400" dirty="0"/>
              <a:t> </a:t>
            </a:r>
            <a:r>
              <a:rPr lang="es-MX" sz="1400" dirty="0" err="1"/>
              <a:t>Sort</a:t>
            </a:r>
            <a:r>
              <a:rPr lang="es-MX" sz="1400" dirty="0"/>
              <a:t> es útil como ejemplo en la enseñanza de conceptos básicos de algoritmos de ordenamiento, especialmente para mostrar el concepto de adaptabilidad y estabilidad.</a:t>
            </a:r>
          </a:p>
          <a:p>
            <a:r>
              <a:rPr lang="es-MX" sz="1400"/>
              <a:t> </a:t>
            </a:r>
          </a:p>
          <a:p>
            <a:endParaRPr lang="es-MX" sz="1200" dirty="0"/>
          </a:p>
        </p:txBody>
      </p:sp>
    </p:spTree>
    <p:extLst>
      <p:ext uri="{BB962C8B-B14F-4D97-AF65-F5344CB8AC3E}">
        <p14:creationId xmlns:p14="http://schemas.microsoft.com/office/powerpoint/2010/main" val="665364527"/>
      </p:ext>
    </p:extLst>
  </p:cSld>
  <p:clrMapOvr>
    <a:masterClrMapping/>
  </p:clrMapOvr>
</p:sld>
</file>

<file path=ppt/theme/theme1.xml><?xml version="1.0" encoding="utf-8"?>
<a:theme xmlns:a="http://schemas.openxmlformats.org/drawingml/2006/main" name="Tema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29_TF78853419_Win32.potx" id="{697C08D2-4C4A-4521-8070-5B07DA2F2744}" vid="{B4D4694D-4865-44CB-AD44-43D5DBA7E4D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3.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{0A8D2B21-4CAE-4820-95C1-5DC56A29D676}tf78853419_win32</Template>
  <TotalTime>21</TotalTime>
  <Words>2647</Words>
  <Application>Microsoft Macintosh PowerPoint</Application>
  <PresentationFormat>Panorámica</PresentationFormat>
  <Paragraphs>183</Paragraphs>
  <Slides>15</Slides>
  <Notes>15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15</vt:i4>
      </vt:variant>
    </vt:vector>
  </HeadingPairs>
  <TitlesOfParts>
    <vt:vector size="22" baseType="lpstr">
      <vt:lpstr>Aptos</vt:lpstr>
      <vt:lpstr>Arial</vt:lpstr>
      <vt:lpstr>Calibri</vt:lpstr>
      <vt:lpstr>Franklin Gothic Book</vt:lpstr>
      <vt:lpstr>Franklin Gothic Demi</vt:lpstr>
      <vt:lpstr>Wingdings</vt:lpstr>
      <vt:lpstr>Tema1</vt:lpstr>
      <vt:lpstr>Presentación de PowerPoint</vt:lpstr>
      <vt:lpstr>1. Introducción y Contexto</vt:lpstr>
      <vt:lpstr>2. Funcionamiento del algoritmo</vt:lpstr>
      <vt:lpstr>De esta forma, el algoritmo ordena "de afuera hacia dentro", fijando los extremos progresivamente. Lista inicial: [5, 2, 8, 1, 14, 17, 4, 3, 19] Iteración 1:   Pasada → (izquierda a derecha): [2, 5, 1, 8, 14, 4, 3, 17, 19] — El 19 llega al final Pasada ← (derecha a izquierda): [1, 2, 5, 8, 14, 4, 3, 17, 19] — El 1 llega al inicio  </vt:lpstr>
      <vt:lpstr>Iteración 2:   Pasada →: [1, 2, 5, 8, 4, 3, 14, 17, 19] — El 17 queda en posición Pasada ←: [1, 2, 5, 8, 4, 3, 14, 17, 19] — El 2 ya está en posición   Iteración 3:   Pasada →: [1, 2, 5, 4, 3, 8, 14, 17, 19] — El 14 queda en posición Pasada ←: [1, 2, 3, 4, 5, 8, 14, 17, 19] — El 3 llega a su posición   Iteración 4:   Pasada →: [1, 2, 3, 4, 5, 8, 14, 17, 19] — El 8 ya está ordenado El algoritmo detecta que no hubo intercambios, por lo que la lista está ordenada   Resultado final: [1, 2, 3, 4, 5, 8, 14, 17, 19]</vt:lpstr>
      <vt:lpstr>2. Funcionamiento del algoritmo</vt:lpstr>
      <vt:lpstr>Iteración 2: Pasada →: [1, 3, 7, 2, 6, 4, 8, 9] — Compara 3 y 7, no intercambia [1, 3, 2, 7, 6, 4, 8, 9] — Compara 7 y 2, intercambia [1, 3, 2, 6, 7, 4, 8, 9] — Compara 7 y 6, intercambia [1, 3, 2, 6, 4, 7, 8, 9] — Compara 7 y 4, intercambia [1, 3, 2, 6, 4, 7, 8, 9] — Compara 7 y 8, no intercambia. 8 queda fijo Pasada ←: [1, 3, 2, 4, 6, 7, 8, 9] — Compara 6 y 4, intercambia [1, 3, 2, 4, 6, 7, 8, 9] — Compara 4 y 2, intercambia [1, 3, 2, 4, 6, 7, 8, 9] — Compara 2 y 3, intercambia [1, 2, 3, 4, 6, 7, 8, 9] — 2 queda fijo   </vt:lpstr>
      <vt:lpstr>Presentación de PowerPoint</vt:lpstr>
      <vt:lpstr>3. Características Técnicas</vt:lpstr>
      <vt:lpstr>4. Eficiencia del Algoritmo</vt:lpstr>
      <vt:lpstr>Presentación de PowerPoint</vt:lpstr>
      <vt:lpstr>5. Casos de Uso y Aplicaciones Prácticas</vt:lpstr>
      <vt:lpstr>5. Casos de Uso y Aplicaciones Prácticas</vt:lpstr>
      <vt:lpstr>7. Conclusiones</vt:lpstr>
      <vt:lpstr>7. 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JENNIFER PAOLA ALEJOS ZAMORA</dc:creator>
  <cp:lastModifiedBy>FERNANDO ALBERTO CARDOS CARVAJAL</cp:lastModifiedBy>
  <cp:revision>2</cp:revision>
  <dcterms:created xsi:type="dcterms:W3CDTF">2025-10-18T04:35:00Z</dcterms:created>
  <dcterms:modified xsi:type="dcterms:W3CDTF">2025-12-05T03:22:18Z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